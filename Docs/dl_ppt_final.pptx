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85" r:id="rId2"/>
    <p:sldId id="286" r:id="rId3"/>
    <p:sldId id="287" r:id="rId4"/>
    <p:sldId id="265" r:id="rId5"/>
    <p:sldId id="268" r:id="rId6"/>
    <p:sldId id="300" r:id="rId7"/>
    <p:sldId id="289" r:id="rId8"/>
    <p:sldId id="281" r:id="rId9"/>
    <p:sldId id="291" r:id="rId10"/>
    <p:sldId id="298" r:id="rId11"/>
    <p:sldId id="299" r:id="rId12"/>
    <p:sldId id="293" r:id="rId13"/>
    <p:sldId id="294" r:id="rId14"/>
    <p:sldId id="303" r:id="rId15"/>
    <p:sldId id="302" r:id="rId16"/>
    <p:sldId id="301" r:id="rId17"/>
    <p:sldId id="295" r:id="rId18"/>
    <p:sldId id="296" r:id="rId19"/>
    <p:sldId id="297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8A5D9F-F2A4-4E9E-9592-A1AA7A171536}" v="1" dt="2026-05-27T05:04:54.8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79" autoAdjust="0"/>
    <p:restoredTop sz="94660"/>
  </p:normalViewPr>
  <p:slideViewPr>
    <p:cSldViewPr snapToGrid="0">
      <p:cViewPr varScale="1">
        <p:scale>
          <a:sx n="78" d="100"/>
          <a:sy n="78" d="100"/>
        </p:scale>
        <p:origin x="24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32703F-51AE-E744-AB56-EE3F6BDBCD5C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93F93E-9553-0948-8FD5-00566A3C6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383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53B2D-5E89-DA04-F0EC-6A4FC9F723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9AD730-ACFA-D081-76FA-6CAF00EE0D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C5BFBB-FCAF-C3CF-7D31-6457ADE8F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87622-8A35-F048-A267-1046E13A8A15}" type="datetime1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070C8D-6EEA-1C8A-D1C5-C9395B18C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296E7F-A9E8-87DD-B263-DF6AF36FE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20516-70CF-47FE-AA80-3DABE7EA9D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8028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78858-DBF9-FDAE-034C-CE8392D64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3A76C-D8ED-A811-6DDF-96AE94ED7D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3DC801-4A41-88C0-3707-A03C33498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C1410-08DE-C845-A2BC-7939FBC4C139}" type="datetime1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3780A3-EC20-7BA8-17FA-0F4326D92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7929B-8314-3E90-6B4F-3204ED396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20516-70CF-47FE-AA80-3DABE7EA9D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0417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4060B-3979-1617-C601-D2187AB26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2F1021-31B4-174A-ADF4-2F6CC25480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55DBC8-2AB1-0B7F-FBD3-E194BE983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06BA7-5B12-1441-BBB7-BC1F071F9C91}" type="datetime1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D27E47-254D-DCCE-32C0-C0E5B3DDF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07F888-81FE-7F88-A093-3974423C7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20516-70CF-47FE-AA80-3DABE7EA9D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1313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C8711-B5A7-0551-BFC5-A771C1439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CDFC8-14A5-D04E-CC29-973FAC35CC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51A1EC-28C7-A757-5C2C-217FEA556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D59917-14EF-8CEA-AB44-8AFFD65E7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EF232-9C30-694A-9A39-82E0AAB3CAEC}" type="datetime1">
              <a:rPr lang="en-IN" smtClean="0"/>
              <a:t>02-06-2026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85FA18-355D-FE8F-FEB5-ED2E1B0FF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1EE87B-B154-1C9E-BEE3-4D66AB228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20516-70CF-47FE-AA80-3DABE7EA9D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8723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ED765-7C24-C826-D6AE-480F33024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AA7067-4A97-C6AE-3BBB-EED7C7E524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DD9672-10CC-98DF-A468-162AD34BC4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B94AC6-6513-99E1-50B2-D7FA321174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A1EFFF-63FD-1722-A840-323E237359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238BA4-61BE-811A-29E8-F5D9F767C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36F17-9D3C-5949-BAB3-46BEDF1C89F3}" type="datetime1">
              <a:rPr lang="en-IN" smtClean="0"/>
              <a:t>02-06-2026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252F2D-3C11-8A44-4039-FA36A27D3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0B1CDC-B092-3669-100C-7659BF4B0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20516-70CF-47FE-AA80-3DABE7EA9D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11308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B7536-4452-26D5-5AD8-0C8044F3E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B9F63E-6177-127E-557A-47D12BF0A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CADB4-0D67-2347-8383-3479621C2D65}" type="datetime1">
              <a:rPr lang="en-IN" smtClean="0"/>
              <a:t>02-06-2026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31809F-C609-6A86-496B-D4BBE1320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ED7F6E-7A17-39E3-3472-65C0B8D3A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20516-70CF-47FE-AA80-3DABE7EA9D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8884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E4DC10-07DA-15C5-C63D-EC04A447E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D0B48-9CA6-4D40-B926-E59565E2A35D}" type="datetime1">
              <a:rPr lang="en-IN" smtClean="0"/>
              <a:t>02-06-2026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E014C7-087F-ABD1-54F4-8830FF8CA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0AC9FD-09E2-11A0-E0BE-B9E2B8863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20516-70CF-47FE-AA80-3DABE7EA9D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3510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6BBD2-C24D-D794-ACE7-785572EE9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CC47D-99EB-7EE3-B330-80E7A4FA5A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34EA2A-F43B-4733-4736-0DBB77DF36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692B87-28E8-C3A7-B31E-67572BEAE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4E236-A3F9-7547-8D7B-DA5F2C44EFE9}" type="datetime1">
              <a:rPr lang="en-IN" smtClean="0"/>
              <a:t>02-06-2026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7E5FB1-C0DA-0369-E0F6-E4252CBC0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BB66D2-78D9-9808-A7A7-20CBEF75B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20516-70CF-47FE-AA80-3DABE7EA9D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5740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E0919-7AAD-5846-0F20-36B814338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22C7D8-0F8B-BF16-95C2-C628F66889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66C4CB-6539-4C8F-0D52-02DCC17307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58A77E-B792-59DB-195D-93475B730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4FF45-66B4-2640-984B-14E33D64CC2F}" type="datetime1">
              <a:rPr lang="en-IN" smtClean="0"/>
              <a:t>02-06-2026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4C9480-AE11-88B1-F8E8-D9D8F2C26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7C6B70-A847-77BC-2FD5-47C5B88A3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20516-70CF-47FE-AA80-3DABE7EA9D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162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B4D20-BB9C-2CA9-2A61-2E1A65BFF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442794-947B-4E25-EDCC-28933D4FF0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6C36E-F6FB-C313-0E2F-A9D76B1A8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875D4-8E7B-9844-8E8F-6A8D0749F8C0}" type="datetime1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FD8B34-71E9-B052-FA9B-7F0D9CFE6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0B8FE1-D224-FB99-0421-8E3E491B0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20516-70CF-47FE-AA80-3DABE7EA9D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153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ED777C-5887-3A31-823B-165F378D0E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CCCD0C-2819-0D89-D1FC-F21F362AE5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78963D-5439-7B0E-13D7-63A15AC02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FE5F6-C48D-B84C-905E-B9AF8F336E1A}" type="datetime1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81161B-93E4-73E0-787F-156B95532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C1A456-92EF-796C-AC87-19FF1187F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20516-70CF-47FE-AA80-3DABE7EA9D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7600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0FD25D-83D7-91D3-0C49-7BC292AF4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A36180-BE02-EC5A-E0CC-2A40741C69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F8D21F-D2C4-D7C1-B43D-1D2566FDCD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2D0CE9-D120-964D-AA9D-CD834C507DAD}" type="datetime1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74DBC4-4ACB-5433-70BC-6DAFF907DF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0F3B0-8C79-AD87-5BC3-8C3C51182A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620516-70CF-47FE-AA80-3DABE7EA9D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8161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60805" y="1213485"/>
            <a:ext cx="9530616" cy="1565910"/>
          </a:xfrm>
        </p:spPr>
        <p:txBody>
          <a:bodyPr>
            <a:normAutofit/>
          </a:bodyPr>
          <a:lstStyle/>
          <a:p>
            <a:br>
              <a:rPr lang="en-IN" altLang="en-US" sz="2220" b="1" dirty="0">
                <a:solidFill>
                  <a:srgbClr val="7F0000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  <a:sym typeface="+mn-ea"/>
              </a:rPr>
            </a:br>
            <a:endParaRPr lang="en-IN" altLang="en-US" dirty="0"/>
          </a:p>
        </p:txBody>
      </p:sp>
      <p:pic>
        <p:nvPicPr>
          <p:cNvPr id="441010233" name="Picture 1"/>
          <p:cNvPicPr>
            <a:picLocks noGrp="1" noChangeAspect="1"/>
          </p:cNvPicPr>
          <p:nvPr>
            <p:ph sz="half" idx="4294967295"/>
          </p:nvPr>
        </p:nvPicPr>
        <p:blipFill>
          <a:blip r:embed="rId3"/>
          <a:stretch>
            <a:fillRect/>
          </a:stretch>
        </p:blipFill>
        <p:spPr>
          <a:xfrm>
            <a:off x="1405885" y="145383"/>
            <a:ext cx="9922849" cy="1291141"/>
          </a:xfrm>
          <a:prstGeom prst="rect">
            <a:avLst/>
          </a:prstGeom>
        </p:spPr>
      </p:pic>
      <p:graphicFrame>
        <p:nvGraphicFramePr>
          <p:cNvPr id="30" name="Table 29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09148987"/>
              </p:ext>
            </p:extLst>
          </p:nvPr>
        </p:nvGraphicFramePr>
        <p:xfrm>
          <a:off x="895739" y="3103295"/>
          <a:ext cx="10432995" cy="156591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4776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7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76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8607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altLang="en-US" sz="1800" spc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  <a:endParaRPr lang="en-IN" altLang="en-US" sz="1800" spc="0" dirty="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>
                    <a:solidFill>
                      <a:srgbClr val="7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altLang="en-US" sz="1800" spc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  <a:endParaRPr lang="en-IN" altLang="en-US" sz="1800" spc="0" dirty="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>
                    <a:solidFill>
                      <a:srgbClr val="7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altLang="en-US" sz="1800" spc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USN</a:t>
                      </a:r>
                      <a:endParaRPr lang="en-IN" altLang="en-US" sz="1800" spc="0" dirty="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>
                    <a:solidFill>
                      <a:srgbClr val="7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607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800" spc="0" dirty="0">
                          <a:latin typeface="Times New Roman" panose="02020603050405020304" pitchFamily="18" charset="0"/>
                          <a:ea typeface="Microsoft YaHei" panose="020B0503020204020204" charset="-122"/>
                          <a:cs typeface="Times New Roman" panose="02020603050405020304" pitchFamily="18" charset="0"/>
                        </a:rPr>
                        <a:t>ADITYA</a:t>
                      </a:r>
                      <a:r>
                        <a:rPr lang="en-US" altLang="en-US" sz="1800" spc="0" baseline="0" dirty="0">
                          <a:latin typeface="Times New Roman" panose="02020603050405020304" pitchFamily="18" charset="0"/>
                          <a:ea typeface="Microsoft YaHei" panose="020B0503020204020204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altLang="en-US" sz="1800" spc="0" baseline="0" dirty="0">
                          <a:latin typeface="Times New Roman" panose="02020603050405020304" pitchFamily="18" charset="0"/>
                          <a:ea typeface="Microsoft YaHei" panose="020B0503020204020204" charset="-122"/>
                          <a:cs typeface="Times New Roman" panose="02020603050405020304" pitchFamily="18" charset="0"/>
                        </a:rPr>
                        <a:t>DESHPANDE </a:t>
                      </a:r>
                      <a:endParaRPr lang="en-IN" altLang="en-US" sz="1800" spc="0" dirty="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800" spc="0" dirty="0">
                          <a:latin typeface="Times New Roman" panose="02020603050405020304" pitchFamily="18" charset="0"/>
                          <a:ea typeface="Microsoft YaHei" panose="020B0503020204020204" charset="-122"/>
                          <a:cs typeface="Times New Roman" panose="02020603050405020304" pitchFamily="18" charset="0"/>
                        </a:rPr>
                        <a:t>34</a:t>
                      </a:r>
                      <a:endParaRPr lang="en-IN" altLang="en-US" sz="1800" spc="0" dirty="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800" spc="0">
                          <a:latin typeface="Times New Roman" panose="02020603050405020304" pitchFamily="18" charset="0"/>
                          <a:ea typeface="Microsoft YaHei" panose="020B0503020204020204" charset="-122"/>
                          <a:cs typeface="Times New Roman" panose="02020603050405020304" pitchFamily="18" charset="0"/>
                        </a:rPr>
                        <a:t>02FE23BCI035</a:t>
                      </a:r>
                      <a:endParaRPr lang="en-IN" altLang="en-US" sz="1800" spc="0" dirty="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607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800" spc="0" dirty="0">
                          <a:latin typeface="Times New Roman" panose="02020603050405020304" pitchFamily="18" charset="0"/>
                          <a:ea typeface="Microsoft YaHei" panose="020B0503020204020204" charset="-122"/>
                          <a:cs typeface="Times New Roman" panose="02020603050405020304" pitchFamily="18" charset="0"/>
                          <a:sym typeface="+mn-ea"/>
                        </a:rPr>
                        <a:t>SHRUSTI</a:t>
                      </a:r>
                      <a:r>
                        <a:rPr lang="en-US" altLang="en-US" sz="1800" spc="0" baseline="0" dirty="0">
                          <a:latin typeface="Times New Roman" panose="02020603050405020304" pitchFamily="18" charset="0"/>
                          <a:ea typeface="Microsoft YaHei" panose="020B0503020204020204" charset="-122"/>
                          <a:cs typeface="Times New Roman" panose="02020603050405020304" pitchFamily="18" charset="0"/>
                          <a:sym typeface="+mn-ea"/>
                        </a:rPr>
                        <a:t> HULBUTTE</a:t>
                      </a:r>
                      <a:endParaRPr lang="en-IN" altLang="en-US" sz="1800" spc="0" dirty="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800" spc="0" dirty="0">
                          <a:latin typeface="Times New Roman" panose="02020603050405020304" pitchFamily="18" charset="0"/>
                          <a:ea typeface="Microsoft YaHei" panose="020B0503020204020204" charset="-122"/>
                          <a:cs typeface="Times New Roman" panose="02020603050405020304" pitchFamily="18" charset="0"/>
                        </a:rPr>
                        <a:t>33</a:t>
                      </a:r>
                      <a:endParaRPr lang="en-IN" altLang="en-US" sz="1800" spc="0" dirty="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800" spc="0" dirty="0">
                          <a:latin typeface="Times New Roman" panose="02020603050405020304" pitchFamily="18" charset="0"/>
                          <a:ea typeface="Microsoft YaHei" panose="020B0503020204020204" charset="-122"/>
                          <a:cs typeface="Times New Roman" panose="02020603050405020304" pitchFamily="18" charset="0"/>
                          <a:sym typeface="+mn-ea"/>
                        </a:rPr>
                        <a:t>02FE23BCI034</a:t>
                      </a:r>
                      <a:endParaRPr lang="en-IN" altLang="en-US" sz="1800" spc="0" dirty="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25400" marR="25400" marT="6350" marB="63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607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800" spc="0" dirty="0">
                          <a:latin typeface="Times New Roman" panose="02020603050405020304" pitchFamily="18" charset="0"/>
                          <a:ea typeface="Microsoft YaHei" panose="020B0503020204020204" charset="-122"/>
                          <a:cs typeface="Times New Roman" panose="02020603050405020304" pitchFamily="18" charset="0"/>
                        </a:rPr>
                        <a:t>BHAGYAVATHI</a:t>
                      </a:r>
                      <a:r>
                        <a:rPr lang="en-US" altLang="en-US" sz="1800" spc="0" baseline="0" dirty="0">
                          <a:latin typeface="Times New Roman" panose="02020603050405020304" pitchFamily="18" charset="0"/>
                          <a:ea typeface="Microsoft YaHei" panose="020B0503020204020204" charset="-122"/>
                          <a:cs typeface="Times New Roman" panose="02020603050405020304" pitchFamily="18" charset="0"/>
                        </a:rPr>
                        <a:t> SHETTY</a:t>
                      </a:r>
                      <a:endParaRPr lang="en-IN" altLang="en-US" sz="1800" spc="0" dirty="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800" spc="0" dirty="0">
                          <a:latin typeface="Times New Roman" panose="02020603050405020304" pitchFamily="18" charset="0"/>
                          <a:ea typeface="Microsoft YaHei" panose="020B0503020204020204" charset="-122"/>
                          <a:cs typeface="Times New Roman" panose="02020603050405020304" pitchFamily="18" charset="0"/>
                        </a:rPr>
                        <a:t>22</a:t>
                      </a:r>
                      <a:endParaRPr lang="en-IN" altLang="en-US" sz="1800" spc="0" dirty="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800" spc="0" dirty="0">
                          <a:latin typeface="Times New Roman" panose="02020603050405020304" pitchFamily="18" charset="0"/>
                          <a:ea typeface="Microsoft YaHei" panose="020B0503020204020204" charset="-122"/>
                          <a:cs typeface="Times New Roman" panose="02020603050405020304" pitchFamily="18" charset="0"/>
                          <a:sym typeface="+mn-ea"/>
                        </a:rPr>
                        <a:t>02FE23BCI023</a:t>
                      </a:r>
                      <a:endParaRPr lang="en-IN" altLang="en-US" sz="1800" spc="0" dirty="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25400" marR="25400" marT="6350" marB="63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176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800" spc="0" dirty="0">
                          <a:latin typeface="Times New Roman" panose="02020603050405020304" pitchFamily="18" charset="0"/>
                          <a:ea typeface="Microsoft YaHei" panose="020B0503020204020204" charset="-122"/>
                          <a:cs typeface="Times New Roman" panose="02020603050405020304" pitchFamily="18" charset="0"/>
                        </a:rPr>
                        <a:t>KRISHNA</a:t>
                      </a:r>
                      <a:r>
                        <a:rPr lang="en-US" altLang="en-US" sz="1800" spc="0" baseline="0" dirty="0">
                          <a:latin typeface="Times New Roman" panose="02020603050405020304" pitchFamily="18" charset="0"/>
                          <a:ea typeface="Microsoft YaHei" panose="020B0503020204020204" charset="-122"/>
                          <a:cs typeface="Times New Roman" panose="02020603050405020304" pitchFamily="18" charset="0"/>
                        </a:rPr>
                        <a:t> PATEL</a:t>
                      </a:r>
                      <a:endParaRPr lang="en-IN" altLang="en-US" sz="1800" spc="0" dirty="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800" spc="0" dirty="0">
                          <a:latin typeface="Times New Roman" panose="02020603050405020304" pitchFamily="18" charset="0"/>
                          <a:ea typeface="Microsoft YaHei" panose="020B0503020204020204" charset="-122"/>
                          <a:cs typeface="Times New Roman" panose="02020603050405020304" pitchFamily="18" charset="0"/>
                        </a:rPr>
                        <a:t>07</a:t>
                      </a:r>
                      <a:endParaRPr lang="en-IN" altLang="en-US" sz="1800" spc="0" dirty="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</a:endParaRP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800" spc="0" dirty="0">
                          <a:latin typeface="Times New Roman" panose="02020603050405020304" pitchFamily="18" charset="0"/>
                          <a:ea typeface="Microsoft YaHei" panose="020B0503020204020204" charset="-122"/>
                          <a:cs typeface="Times New Roman" panose="02020603050405020304" pitchFamily="18" charset="0"/>
                          <a:sym typeface="+mn-ea"/>
                        </a:rPr>
                        <a:t>02FE23BCI006</a:t>
                      </a:r>
                      <a:endParaRPr lang="en-IN" altLang="en-US" sz="1800" spc="0" dirty="0">
                        <a:latin typeface="Times New Roman" panose="02020603050405020304" pitchFamily="18" charset="0"/>
                        <a:ea typeface="Microsoft YaHei" panose="020B0503020204020204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25400" marR="25400" marT="6350" marB="635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/>
          <p:nvPr/>
        </p:nvSpPr>
        <p:spPr>
          <a:xfrm>
            <a:off x="2899817" y="4770764"/>
            <a:ext cx="6096000" cy="1438901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 defTabSz="266700">
              <a:lnSpc>
                <a:spcPct val="113000"/>
              </a:lnSpc>
              <a:spcAft>
                <a:spcPts val="1000"/>
              </a:spcAft>
            </a:pPr>
            <a:r>
              <a:rPr lang="en-US" sz="1600" u="sng" dirty="0">
                <a:latin typeface="Calibri" panose="020F0502020204030204" charset="0"/>
                <a:ea typeface="Times New Roman" panose="02020603050405020304"/>
                <a:cs typeface="Calibri" panose="020F0502020204030204" charset="0"/>
                <a:sym typeface="+mn-ea"/>
              </a:rPr>
              <a:t>Under the guidance of </a:t>
            </a:r>
            <a:r>
              <a:rPr lang="en-US" sz="1600" dirty="0">
                <a:latin typeface="Calibri" panose="020F0502020204030204" charset="0"/>
                <a:ea typeface="Times New Roman" panose="02020603050405020304"/>
                <a:cs typeface="Calibri" panose="020F0502020204030204" charset="0"/>
                <a:sym typeface="+mn-ea"/>
              </a:rPr>
              <a:t>:</a:t>
            </a:r>
            <a:r>
              <a:rPr lang="en-IN" sz="1600" b="1" dirty="0">
                <a:latin typeface="Calibri" panose="020F0502020204030204" charset="0"/>
                <a:ea typeface="Times New Roman" panose="02020603050405020304"/>
                <a:cs typeface="Calibri" panose="020F0502020204030204" charset="0"/>
                <a:sym typeface="+mn-ea"/>
              </a:rPr>
              <a:t> </a:t>
            </a:r>
            <a:r>
              <a:rPr lang="en-IN" sz="1600" dirty="0">
                <a:latin typeface="Calibri" panose="020F0502020204030204" charset="0"/>
                <a:ea typeface="Times New Roman" panose="02020603050405020304"/>
                <a:cs typeface="Calibri" panose="020F0502020204030204" charset="0"/>
                <a:sym typeface="+mn-ea"/>
              </a:rPr>
              <a:t>Prof. Salma </a:t>
            </a:r>
            <a:r>
              <a:rPr lang="en-IN" sz="1600" dirty="0" err="1">
                <a:latin typeface="Calibri" panose="020F0502020204030204" charset="0"/>
                <a:ea typeface="Times New Roman" panose="02020603050405020304"/>
                <a:cs typeface="Calibri" panose="020F0502020204030204" charset="0"/>
                <a:sym typeface="+mn-ea"/>
              </a:rPr>
              <a:t>Shahapur</a:t>
            </a:r>
            <a:endParaRPr lang="en-IN" sz="1600" dirty="0"/>
          </a:p>
          <a:p>
            <a:pPr algn="ctr" defTabSz="266700">
              <a:lnSpc>
                <a:spcPct val="113000"/>
              </a:lnSpc>
              <a:spcAft>
                <a:spcPts val="1000"/>
              </a:spcAft>
            </a:pPr>
            <a:r>
              <a:rPr lang="en-US" sz="1600" b="1" dirty="0">
                <a:latin typeface="Calibri" panose="020F0502020204030204" charset="0"/>
                <a:ea typeface="SimSun" panose="02010600030101010101" pitchFamily="2" charset="-122"/>
                <a:cs typeface="Calibri" panose="020F0502020204030204" charset="0"/>
                <a:sym typeface="+mn-ea"/>
              </a:rPr>
              <a:t>DEPARTMENT OF COMPUTER SCIENCE &amp; ARTIFICAL INTELLIGENCE ENGINEERING</a:t>
            </a:r>
          </a:p>
          <a:p>
            <a:pPr algn="ctr" defTabSz="266700">
              <a:lnSpc>
                <a:spcPct val="113000"/>
              </a:lnSpc>
              <a:spcAft>
                <a:spcPts val="1000"/>
              </a:spcAft>
            </a:pPr>
            <a:r>
              <a:rPr lang="en-IN" sz="1600" dirty="0">
                <a:cs typeface="LM Sans 8"/>
              </a:rPr>
              <a:t>Course Code </a:t>
            </a:r>
            <a:r>
              <a:rPr lang="en-IN" sz="1600" dirty="0">
                <a:latin typeface="LM Sans 8"/>
                <a:cs typeface="LM Sans 8"/>
              </a:rPr>
              <a:t>:</a:t>
            </a:r>
            <a:r>
              <a:rPr lang="en-IN" sz="1600" spc="90" dirty="0">
                <a:latin typeface="LM Sans 8"/>
                <a:cs typeface="LM Sans 8"/>
              </a:rPr>
              <a:t> 25ECAC306             </a:t>
            </a:r>
            <a:r>
              <a:rPr sz="1600" dirty="0">
                <a:latin typeface="Calibri" panose="020F0502020204030204" charset="0"/>
                <a:ea typeface="SimSun" panose="02010600030101010101" pitchFamily="2" charset="-122"/>
                <a:cs typeface="Calibri" panose="020F0502020204030204" charset="0"/>
                <a:sym typeface="+mn-ea"/>
              </a:rPr>
              <a:t>Academic year 202</a:t>
            </a:r>
            <a:r>
              <a:rPr lang="en-IN" sz="1600" dirty="0">
                <a:latin typeface="Calibri" panose="020F0502020204030204" charset="0"/>
                <a:ea typeface="SimSun" panose="02010600030101010101" pitchFamily="2" charset="-122"/>
                <a:cs typeface="Calibri" panose="020F0502020204030204" charset="0"/>
                <a:sym typeface="+mn-ea"/>
              </a:rPr>
              <a:t>5 - 26</a:t>
            </a:r>
          </a:p>
          <a:p>
            <a:pPr algn="ctr" defTabSz="266700">
              <a:lnSpc>
                <a:spcPct val="113000"/>
              </a:lnSpc>
              <a:spcAft>
                <a:spcPts val="1000"/>
              </a:spcAft>
            </a:pPr>
            <a:r>
              <a:rPr lang="en-IN" sz="1600" dirty="0">
                <a:latin typeface="Calibri" panose="020F0502020204030204" charset="0"/>
                <a:ea typeface="SimSun" panose="02010600030101010101" pitchFamily="2" charset="-122"/>
                <a:cs typeface="Calibri" panose="020F0502020204030204" charset="0"/>
                <a:sym typeface="+mn-ea"/>
              </a:rPr>
              <a:t> </a:t>
            </a:r>
            <a:r>
              <a:rPr lang="en-IN" sz="800" dirty="0">
                <a:latin typeface="Calibri" panose="020F0502020204030204" charset="0"/>
                <a:ea typeface="SimSun" panose="02010600030101010101" pitchFamily="2" charset="-122"/>
                <a:cs typeface="Calibri" panose="020F0502020204030204" charset="0"/>
                <a:sym typeface="+mn-ea"/>
              </a:rPr>
              <a:t>     </a:t>
            </a:r>
          </a:p>
        </p:txBody>
      </p:sp>
      <p:sp>
        <p:nvSpPr>
          <p:cNvPr id="5" name="object 7"/>
          <p:cNvSpPr/>
          <p:nvPr/>
        </p:nvSpPr>
        <p:spPr>
          <a:xfrm>
            <a:off x="0" y="6266815"/>
            <a:ext cx="12192635" cy="591820"/>
          </a:xfrm>
          <a:custGeom>
            <a:avLst/>
            <a:gdLst/>
            <a:ahLst/>
            <a:cxnLst/>
            <a:rect l="l" t="t" r="r" b="b"/>
            <a:pathLst>
              <a:path w="4608195" h="127000">
                <a:moveTo>
                  <a:pt x="4608004" y="0"/>
                </a:moveTo>
                <a:lnTo>
                  <a:pt x="4147172" y="0"/>
                </a:lnTo>
                <a:lnTo>
                  <a:pt x="0" y="0"/>
                </a:lnTo>
                <a:lnTo>
                  <a:pt x="0" y="126530"/>
                </a:lnTo>
                <a:lnTo>
                  <a:pt x="4147172" y="126530"/>
                </a:lnTo>
                <a:lnTo>
                  <a:pt x="4608004" y="126530"/>
                </a:lnTo>
                <a:lnTo>
                  <a:pt x="4608004" y="0"/>
                </a:lnTo>
                <a:close/>
              </a:path>
            </a:pathLst>
          </a:custGeom>
          <a:solidFill>
            <a:srgbClr val="7F0000"/>
          </a:solidFill>
        </p:spPr>
        <p:txBody>
          <a:bodyPr wrap="square" lIns="0" tIns="0" rIns="0" bIns="0" rtlCol="0"/>
          <a:lstStyle/>
          <a:p>
            <a:pPr algn="ctr"/>
            <a:endParaRPr sz="1000" spc="-5"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6" name="object 2"/>
          <p:cNvSpPr txBox="1"/>
          <p:nvPr/>
        </p:nvSpPr>
        <p:spPr>
          <a:xfrm>
            <a:off x="1446530" y="6381115"/>
            <a:ext cx="9278620" cy="375920"/>
          </a:xfrm>
          <a:prstGeom prst="rect">
            <a:avLst/>
          </a:prstGeom>
        </p:spPr>
        <p:txBody>
          <a:bodyPr vert="horz" wrap="square" lIns="0" tIns="13335" rIns="0" bIns="0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400" b="1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Department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Computer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Science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Engineering</a:t>
            </a:r>
            <a:r>
              <a:rPr lang="en-IN" sz="1400" b="1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(Artificial Intelligence)</a:t>
            </a:r>
            <a:endParaRPr sz="1400" dirty="0">
              <a:latin typeface="Calibri" panose="020F0502020204030204"/>
              <a:cs typeface="Calibri" panose="020F0502020204030204"/>
            </a:endParaRPr>
          </a:p>
          <a:p>
            <a:pPr algn="ctr">
              <a:lnSpc>
                <a:spcPct val="100000"/>
              </a:lnSpc>
            </a:pPr>
            <a:r>
              <a:rPr sz="1400" b="1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KLE</a:t>
            </a:r>
            <a:r>
              <a:rPr sz="1400" b="1" spc="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Technological</a:t>
            </a:r>
            <a:r>
              <a:rPr sz="1400" b="1" spc="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University’s</a:t>
            </a:r>
            <a:r>
              <a:rPr sz="1400" b="1" spc="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Dr.</a:t>
            </a:r>
            <a:r>
              <a:rPr sz="1400" b="1" spc="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M.</a:t>
            </a:r>
            <a:r>
              <a:rPr sz="1400" b="1" spc="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S.</a:t>
            </a:r>
            <a:r>
              <a:rPr sz="1400" b="1" spc="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Sheshgiri</a:t>
            </a:r>
            <a:r>
              <a:rPr sz="1400" b="1" spc="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College</a:t>
            </a:r>
            <a:r>
              <a:rPr sz="1400" b="1" spc="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1400" b="1" spc="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Engineering</a:t>
            </a:r>
            <a:r>
              <a:rPr sz="1400" b="1" spc="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Technology,</a:t>
            </a:r>
            <a:r>
              <a:rPr sz="1400" b="1" spc="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Belagavi</a:t>
            </a:r>
            <a:endParaRPr sz="140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500923" y="1846349"/>
            <a:ext cx="108278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IN" sz="2800" dirty="0">
                <a:solidFill>
                  <a:schemeClr val="accent1"/>
                </a:solidFill>
              </a:rPr>
              <a:t>AI-Based Surgical Suturing Assessment Using Deep Learning</a:t>
            </a:r>
            <a:endParaRPr lang="en-US" sz="2800" b="1" i="1" dirty="0">
              <a:solidFill>
                <a:schemeClr val="accent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30000" y="6430575"/>
            <a:ext cx="5352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/>
        </p:nvSpPr>
        <p:spPr>
          <a:xfrm>
            <a:off x="11786" y="0"/>
            <a:ext cx="12192000" cy="838835"/>
          </a:xfrm>
          <a:prstGeom prst="rect">
            <a:avLst/>
          </a:prstGeom>
          <a:solidFill>
            <a:srgbClr val="74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bg1"/>
                </a:solidFill>
                <a:latin typeface="Rockwell Extra Bold" panose="02060903040505020403" pitchFamily="18" charset="0"/>
                <a:sym typeface="+mn-ea"/>
              </a:rPr>
              <a:t> T</a:t>
            </a:r>
            <a:r>
              <a:rPr lang="en-IN" sz="2800" dirty="0">
                <a:solidFill>
                  <a:schemeClr val="bg1"/>
                </a:solidFill>
                <a:latin typeface="Rockwell Extra Bold" panose="02060903040505020403" pitchFamily="18" charset="0"/>
                <a:sym typeface="+mn-ea"/>
              </a:rPr>
              <a:t>able of content</a:t>
            </a:r>
            <a:endParaRPr lang="en-US" sz="2800" dirty="0"/>
          </a:p>
        </p:txBody>
      </p:sp>
      <p:sp>
        <p:nvSpPr>
          <p:cNvPr id="5" name="object 7"/>
          <p:cNvSpPr/>
          <p:nvPr/>
        </p:nvSpPr>
        <p:spPr>
          <a:xfrm>
            <a:off x="0" y="6266815"/>
            <a:ext cx="12192635" cy="591820"/>
          </a:xfrm>
          <a:custGeom>
            <a:avLst/>
            <a:gdLst/>
            <a:ahLst/>
            <a:cxnLst/>
            <a:rect l="l" t="t" r="r" b="b"/>
            <a:pathLst>
              <a:path w="4608195" h="127000">
                <a:moveTo>
                  <a:pt x="4608004" y="0"/>
                </a:moveTo>
                <a:lnTo>
                  <a:pt x="4147172" y="0"/>
                </a:lnTo>
                <a:lnTo>
                  <a:pt x="0" y="0"/>
                </a:lnTo>
                <a:lnTo>
                  <a:pt x="0" y="126530"/>
                </a:lnTo>
                <a:lnTo>
                  <a:pt x="4147172" y="126530"/>
                </a:lnTo>
                <a:lnTo>
                  <a:pt x="4608004" y="126530"/>
                </a:lnTo>
                <a:lnTo>
                  <a:pt x="4608004" y="0"/>
                </a:lnTo>
                <a:close/>
              </a:path>
            </a:pathLst>
          </a:custGeom>
          <a:solidFill>
            <a:srgbClr val="7F0000"/>
          </a:solidFill>
        </p:spPr>
        <p:txBody>
          <a:bodyPr wrap="square" lIns="0" tIns="0" rIns="0" bIns="0" rtlCol="0"/>
          <a:lstStyle/>
          <a:p>
            <a:pPr algn="ctr"/>
            <a:endParaRPr sz="1000" spc="-5"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6" name="object 2"/>
          <p:cNvSpPr txBox="1"/>
          <p:nvPr/>
        </p:nvSpPr>
        <p:spPr>
          <a:xfrm>
            <a:off x="1446530" y="6381115"/>
            <a:ext cx="9278620" cy="375920"/>
          </a:xfrm>
          <a:prstGeom prst="rect">
            <a:avLst/>
          </a:prstGeom>
        </p:spPr>
        <p:txBody>
          <a:bodyPr vert="horz" wrap="square" lIns="0" tIns="13335" rIns="0" bIns="0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400" b="1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Department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Computer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Science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Engineering</a:t>
            </a:r>
            <a:r>
              <a:rPr lang="en-IN" sz="1400" b="1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(Artificial Intelligence)</a:t>
            </a:r>
            <a:endParaRPr sz="1400" dirty="0">
              <a:latin typeface="Calibri" panose="020F0502020204030204"/>
              <a:cs typeface="Calibri" panose="020F0502020204030204"/>
            </a:endParaRPr>
          </a:p>
          <a:p>
            <a:pPr algn="ctr">
              <a:lnSpc>
                <a:spcPct val="100000"/>
              </a:lnSpc>
            </a:pPr>
            <a:r>
              <a:rPr sz="1400" b="1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KLE</a:t>
            </a:r>
            <a:r>
              <a:rPr sz="1400" b="1" spc="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Technological</a:t>
            </a:r>
            <a:r>
              <a:rPr sz="1400" b="1" spc="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University’s</a:t>
            </a:r>
            <a:r>
              <a:rPr sz="1400" b="1" spc="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Dr.</a:t>
            </a:r>
            <a:r>
              <a:rPr sz="1400" b="1" spc="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M.</a:t>
            </a:r>
            <a:r>
              <a:rPr sz="1400" b="1" spc="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S.</a:t>
            </a:r>
            <a:r>
              <a:rPr sz="1400" b="1" spc="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Sheshgiri</a:t>
            </a:r>
            <a:r>
              <a:rPr sz="1400" b="1" spc="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College</a:t>
            </a:r>
            <a:r>
              <a:rPr sz="1400" b="1" spc="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1400" b="1" spc="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Engineering</a:t>
            </a:r>
            <a:r>
              <a:rPr sz="1400" b="1" spc="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Technology,</a:t>
            </a:r>
            <a:r>
              <a:rPr sz="1400" b="1" spc="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Belagavi</a:t>
            </a:r>
            <a:endParaRPr sz="140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661204" y="2020104"/>
            <a:ext cx="10622915" cy="3410585"/>
          </a:xfrm>
          <a:prstGeom prst="rect">
            <a:avLst/>
          </a:prstGeom>
        </p:spPr>
        <p:txBody>
          <a:bodyPr>
            <a:noAutofit/>
          </a:bodyPr>
          <a:lstStyle/>
          <a:p>
            <a:pPr marL="139700" indent="0" algn="just">
              <a:buNone/>
            </a:pPr>
            <a:endParaRPr lang="en-US" sz="2800" dirty="0"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5BD13F-B80F-B6DE-1E6A-0052AFED1AAE}"/>
              </a:ext>
            </a:extLst>
          </p:cNvPr>
          <p:cNvSpPr txBox="1"/>
          <p:nvPr/>
        </p:nvSpPr>
        <p:spPr>
          <a:xfrm>
            <a:off x="221543" y="1364357"/>
            <a:ext cx="5838418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ibari(boby)"/>
                <a:cs typeface="Times New Roman" pitchFamily="18" charset="0"/>
              </a:rPr>
              <a:t>Introduction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ibari(boby)"/>
                <a:cs typeface="Times New Roman" pitchFamily="18" charset="0"/>
              </a:rPr>
              <a:t>Problem Statement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ibari(boby)"/>
                <a:cs typeface="Times New Roman" pitchFamily="18" charset="0"/>
              </a:rPr>
              <a:t>Objectives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ibari(boby)"/>
                <a:cs typeface="Times New Roman" pitchFamily="18" charset="0"/>
              </a:rPr>
              <a:t>Literature Survey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ibari(boby)"/>
                <a:cs typeface="Times New Roman" pitchFamily="18" charset="0"/>
              </a:rPr>
              <a:t>Methodology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ibari(boby)"/>
                <a:cs typeface="Times New Roman" pitchFamily="18" charset="0"/>
              </a:rPr>
              <a:t>Method Used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ibari(boby)"/>
                <a:cs typeface="Times New Roman" pitchFamily="18" charset="0"/>
              </a:rPr>
              <a:t>Training Details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ibari(boby)"/>
                <a:cs typeface="Times New Roman" pitchFamily="18" charset="0"/>
              </a:rPr>
              <a:t>Results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ibari(boby)"/>
                <a:cs typeface="Times New Roman" pitchFamily="18" charset="0"/>
              </a:rPr>
              <a:t>Performance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ibari(boby)"/>
                <a:cs typeface="Times New Roman" pitchFamily="18" charset="0"/>
              </a:rPr>
              <a:t>Application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ibari(boby)"/>
                <a:cs typeface="Times New Roman" pitchFamily="18" charset="0"/>
              </a:rPr>
              <a:t>Conclusion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ibari(boby)"/>
                <a:cs typeface="Times New Roman" pitchFamily="18" charset="0"/>
              </a:rPr>
              <a:t>Future Scope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ibari(boby)"/>
                <a:cs typeface="Times New Roman" pitchFamily="18" charset="0"/>
              </a:rPr>
              <a:t>References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430000" y="6430575"/>
            <a:ext cx="5352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68165-EA5B-D02B-5410-21BB3770A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35E4453-A593-B0B5-FB7F-81A4211C1DAE}"/>
              </a:ext>
            </a:extLst>
          </p:cNvPr>
          <p:cNvSpPr>
            <a:spLocks noGrp="1"/>
          </p:cNvSpPr>
          <p:nvPr/>
        </p:nvSpPr>
        <p:spPr>
          <a:xfrm>
            <a:off x="11786" y="0"/>
            <a:ext cx="12192000" cy="838835"/>
          </a:xfrm>
          <a:prstGeom prst="rect">
            <a:avLst/>
          </a:prstGeom>
          <a:solidFill>
            <a:srgbClr val="74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800" dirty="0">
                <a:solidFill>
                  <a:schemeClr val="bg1"/>
                </a:solidFill>
                <a:latin typeface="Calibri(boby)"/>
                <a:sym typeface="+mn-ea"/>
              </a:rPr>
              <a:t>Introduction</a:t>
            </a:r>
            <a:endParaRPr lang="en-US" sz="2800" dirty="0">
              <a:latin typeface="Calibri(boby)"/>
            </a:endParaRP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2B862012-5214-9A80-DCD1-C44189F1FD1E}"/>
              </a:ext>
            </a:extLst>
          </p:cNvPr>
          <p:cNvSpPr txBox="1"/>
          <p:nvPr/>
        </p:nvSpPr>
        <p:spPr>
          <a:xfrm>
            <a:off x="1446530" y="6381115"/>
            <a:ext cx="9278620" cy="375920"/>
          </a:xfrm>
          <a:prstGeom prst="rect">
            <a:avLst/>
          </a:prstGeom>
        </p:spPr>
        <p:txBody>
          <a:bodyPr vert="horz" wrap="square" lIns="0" tIns="13335" rIns="0" bIns="0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400" b="1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Department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Computer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Science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Engineering</a:t>
            </a:r>
            <a:r>
              <a:rPr lang="en-IN" sz="1400" b="1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(Artificial Intelligence)</a:t>
            </a:r>
            <a:endParaRPr sz="1400" dirty="0">
              <a:latin typeface="Calibri" panose="020F0502020204030204"/>
              <a:cs typeface="Calibri" panose="020F0502020204030204"/>
            </a:endParaRPr>
          </a:p>
          <a:p>
            <a:pPr algn="ctr">
              <a:lnSpc>
                <a:spcPct val="100000"/>
              </a:lnSpc>
            </a:pPr>
            <a:r>
              <a:rPr sz="1400" b="1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KLE</a:t>
            </a:r>
            <a:r>
              <a:rPr sz="1400" b="1" spc="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Technological</a:t>
            </a:r>
            <a:r>
              <a:rPr sz="1400" b="1" spc="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University’s</a:t>
            </a:r>
            <a:r>
              <a:rPr sz="1400" b="1" spc="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Dr.</a:t>
            </a:r>
            <a:r>
              <a:rPr sz="1400" b="1" spc="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M.</a:t>
            </a:r>
            <a:r>
              <a:rPr sz="1400" b="1" spc="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S.</a:t>
            </a:r>
            <a:r>
              <a:rPr sz="1400" b="1" spc="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Sheshgiri</a:t>
            </a:r>
            <a:r>
              <a:rPr sz="1400" b="1" spc="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College</a:t>
            </a:r>
            <a:r>
              <a:rPr sz="1400" b="1" spc="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of</a:t>
            </a:r>
            <a:r>
              <a:rPr sz="1400" b="1" spc="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Engineering</a:t>
            </a:r>
            <a:r>
              <a:rPr sz="1400" b="1" spc="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1400" b="1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Technology,</a:t>
            </a:r>
            <a:r>
              <a:rPr sz="1400" b="1" spc="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Belagavi</a:t>
            </a:r>
            <a:endParaRPr sz="140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26579B83-6A46-E651-79BF-A9FC00275642}"/>
              </a:ext>
            </a:extLst>
          </p:cNvPr>
          <p:cNvSpPr txBox="1"/>
          <p:nvPr/>
        </p:nvSpPr>
        <p:spPr>
          <a:xfrm>
            <a:off x="661204" y="2020104"/>
            <a:ext cx="10622915" cy="3410585"/>
          </a:xfrm>
          <a:prstGeom prst="rect">
            <a:avLst/>
          </a:prstGeom>
        </p:spPr>
        <p:txBody>
          <a:bodyPr>
            <a:noAutofit/>
          </a:bodyPr>
          <a:lstStyle/>
          <a:p>
            <a:pPr marL="139700" indent="0" algn="just">
              <a:buNone/>
            </a:pPr>
            <a:endParaRPr lang="en-US" sz="2800" dirty="0"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9D9458-B949-DF82-645F-B8F0C6940B37}"/>
              </a:ext>
            </a:extLst>
          </p:cNvPr>
          <p:cNvSpPr txBox="1"/>
          <p:nvPr/>
        </p:nvSpPr>
        <p:spPr>
          <a:xfrm>
            <a:off x="11430000" y="6430575"/>
            <a:ext cx="5352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2/14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C3D102-8414-9CF3-92F6-B254D25AABB1}"/>
              </a:ext>
            </a:extLst>
          </p:cNvPr>
          <p:cNvSpPr txBox="1"/>
          <p:nvPr/>
        </p:nvSpPr>
        <p:spPr>
          <a:xfrm>
            <a:off x="2202024" y="2360645"/>
            <a:ext cx="3526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D7627C-2859-8986-EB50-8B8DB4B4A366}"/>
              </a:ext>
            </a:extLst>
          </p:cNvPr>
          <p:cNvSpPr txBox="1"/>
          <p:nvPr/>
        </p:nvSpPr>
        <p:spPr>
          <a:xfrm>
            <a:off x="416281" y="1289166"/>
            <a:ext cx="111127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IN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4A6952-ED1E-0A99-DF02-30817A80F24A}"/>
              </a:ext>
            </a:extLst>
          </p:cNvPr>
          <p:cNvSpPr txBox="1"/>
          <p:nvPr/>
        </p:nvSpPr>
        <p:spPr>
          <a:xfrm>
            <a:off x="1304014" y="2973788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02CADF09-5E86-50B5-82E3-81A9292902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529" y="1489221"/>
            <a:ext cx="11621729" cy="26161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 </a:t>
            </a:r>
            <a:r>
              <a:rPr lang="en-US" altLang="en-US" sz="2400" dirty="0"/>
              <a:t>Suturing quality directly impacts wound healing and tissue approximation.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 Traditional assessment relies on expert observation.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 Manual evaluation is subjective and time-consuming.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 AI and Computer Vision enable objective assessment.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 YOLOv8 is used to detect surgical landmarks.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 Detected landmarks are analyzed for bite size and consistency.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669962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5630A-3F19-04B0-EB91-46786D1E3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341" y="0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Calibri(boby)"/>
              </a:rPr>
              <a:t>Problem Statement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C1561A-95A3-6D5C-ED05-36684E478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20516-70CF-47FE-AA80-3DABE7EA9D45}" type="slidenum">
              <a:rPr lang="en-IN" smtClean="0"/>
              <a:t>4</a:t>
            </a:fld>
            <a:endParaRPr lang="en-IN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56C3383-C4C1-679F-35BE-0335E63552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2341" y="1699189"/>
            <a:ext cx="8862225" cy="2914036"/>
          </a:xfrm>
        </p:spPr>
        <p:txBody>
          <a:bodyPr>
            <a:normAutofit/>
          </a:bodyPr>
          <a:lstStyle/>
          <a:p>
            <a:r>
              <a:rPr lang="en-IN" sz="2400" dirty="0"/>
              <a:t>Manual suturing assessment lacks consistency. </a:t>
            </a:r>
          </a:p>
          <a:p>
            <a:r>
              <a:rPr lang="en-IN" sz="2400" dirty="0"/>
              <a:t>Expert evaluation is time-intensive. </a:t>
            </a:r>
          </a:p>
          <a:p>
            <a:r>
              <a:rPr lang="en-IN" sz="2400" dirty="0"/>
              <a:t>Measuring stitch quality is difficult in practice. </a:t>
            </a:r>
          </a:p>
          <a:p>
            <a:r>
              <a:rPr lang="en-IN" sz="2400" dirty="0"/>
              <a:t>Surgical videos contain varying lighting and viewpoints. </a:t>
            </a:r>
          </a:p>
          <a:p>
            <a:r>
              <a:rPr lang="en-IN" sz="2400" dirty="0"/>
              <a:t>Automated assessment is needed for objective evaluation. </a:t>
            </a:r>
          </a:p>
          <a:p>
            <a:r>
              <a:rPr lang="en-IN" sz="2400" dirty="0"/>
              <a:t>AI can provide repeatable and quantitative feedback. </a:t>
            </a:r>
          </a:p>
          <a:p>
            <a:pPr marL="0" indent="0" algn="just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821236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CC309-D13A-E7E5-2684-C67706E04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6B31D-3CA5-02CC-B559-59A70C694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393" y="-121072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latin typeface="Calibri(boby)"/>
              </a:rPr>
              <a:t>Objective</a:t>
            </a:r>
            <a:endParaRPr lang="en-IN" b="1" dirty="0">
              <a:latin typeface="Calibri(boby)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D07B607-E684-6A97-C565-8F043C7FA1B4}"/>
              </a:ext>
            </a:extLst>
          </p:cNvPr>
          <p:cNvSpPr/>
          <p:nvPr/>
        </p:nvSpPr>
        <p:spPr>
          <a:xfrm>
            <a:off x="3658710" y="5390076"/>
            <a:ext cx="183931" cy="2207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141633-4614-A9C7-2B7E-3479237CB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20516-70CF-47FE-AA80-3DABE7EA9D45}" type="slidenum">
              <a:rPr lang="en-IN" smtClean="0"/>
              <a:t>5</a:t>
            </a:fld>
            <a:endParaRPr lang="en-IN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5CCCA735-EF59-8F09-D203-40D35AFC9C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7144" y="964742"/>
            <a:ext cx="10778379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(boby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Calibri(boby)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2400" dirty="0">
                <a:latin typeface="Calibri(boby)"/>
              </a:rPr>
              <a:t> To design an AI-based system for automated surgical suturing assessment.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2400" dirty="0">
                <a:latin typeface="Calibri(boby)"/>
              </a:rPr>
              <a:t> To implement frame extraction and annotation techniques for surgical video 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2400" dirty="0">
                <a:latin typeface="Calibri(boby)"/>
              </a:rPr>
              <a:t>   analysis.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2400" dirty="0">
                <a:latin typeface="Calibri(boby)"/>
              </a:rPr>
              <a:t> To build a YOLOv8-based deep learning model for detecting suturing regions.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2400" dirty="0">
                <a:latin typeface="Calibri(boby)"/>
              </a:rPr>
              <a:t> To develop an objective and efficient framework for assisting surgical skill 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2400" dirty="0">
                <a:latin typeface="Calibri(boby)"/>
              </a:rPr>
              <a:t>   evaluation.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IN" dirty="0">
              <a:latin typeface="Calibri(boby)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latin typeface="Calibri(boby)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latin typeface="Calibri(boby)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IN" dirty="0">
              <a:latin typeface="Calibri(boby)"/>
            </a:endParaRPr>
          </a:p>
        </p:txBody>
      </p:sp>
    </p:spTree>
    <p:extLst>
      <p:ext uri="{BB962C8B-B14F-4D97-AF65-F5344CB8AC3E}">
        <p14:creationId xmlns:p14="http://schemas.microsoft.com/office/powerpoint/2010/main" val="3393473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CD986-0A65-672A-7645-71257C606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2306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500" dirty="0"/>
              <a:t>Literature Survey</a:t>
            </a:r>
            <a:endParaRPr lang="en-IN" sz="35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C0C483-DE8D-DB04-EC64-714C89DD5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20516-70CF-47FE-AA80-3DABE7EA9D45}" type="slidenum">
              <a:rPr lang="en-IN" smtClean="0"/>
              <a:t>6</a:t>
            </a:fld>
            <a:endParaRPr lang="en-IN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FAF1737-98B5-C906-A41C-F1C2F7E68A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6294207"/>
              </p:ext>
            </p:extLst>
          </p:nvPr>
        </p:nvGraphicFramePr>
        <p:xfrm>
          <a:off x="575187" y="1253331"/>
          <a:ext cx="11041625" cy="435133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08325">
                  <a:extLst>
                    <a:ext uri="{9D8B030D-6E8A-4147-A177-3AD203B41FA5}">
                      <a16:colId xmlns:a16="http://schemas.microsoft.com/office/drawing/2014/main" val="3844737642"/>
                    </a:ext>
                  </a:extLst>
                </a:gridCol>
                <a:gridCol w="2208325">
                  <a:extLst>
                    <a:ext uri="{9D8B030D-6E8A-4147-A177-3AD203B41FA5}">
                      <a16:colId xmlns:a16="http://schemas.microsoft.com/office/drawing/2014/main" val="3349394034"/>
                    </a:ext>
                  </a:extLst>
                </a:gridCol>
                <a:gridCol w="2208325">
                  <a:extLst>
                    <a:ext uri="{9D8B030D-6E8A-4147-A177-3AD203B41FA5}">
                      <a16:colId xmlns:a16="http://schemas.microsoft.com/office/drawing/2014/main" val="1439210817"/>
                    </a:ext>
                  </a:extLst>
                </a:gridCol>
                <a:gridCol w="2208325">
                  <a:extLst>
                    <a:ext uri="{9D8B030D-6E8A-4147-A177-3AD203B41FA5}">
                      <a16:colId xmlns:a16="http://schemas.microsoft.com/office/drawing/2014/main" val="4131249126"/>
                    </a:ext>
                  </a:extLst>
                </a:gridCol>
                <a:gridCol w="2208325">
                  <a:extLst>
                    <a:ext uri="{9D8B030D-6E8A-4147-A177-3AD203B41FA5}">
                      <a16:colId xmlns:a16="http://schemas.microsoft.com/office/drawing/2014/main" val="1329259503"/>
                    </a:ext>
                  </a:extLst>
                </a:gridCol>
              </a:tblGrid>
              <a:tr h="543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dirty="0">
                          <a:latin typeface="+mn-lt"/>
                        </a:rPr>
                        <a:t>Paper Title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dirty="0">
                          <a:latin typeface="+mn-lt"/>
                        </a:rPr>
                        <a:t>Methodology / Implementation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dirty="0">
                          <a:latin typeface="+mn-lt"/>
                        </a:rPr>
                        <a:t>Dataset Description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dirty="0">
                          <a:latin typeface="+mn-lt"/>
                        </a:rPr>
                        <a:t>Performance Parameters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dirty="0">
                          <a:latin typeface="+mn-lt"/>
                        </a:rPr>
                        <a:t>Gap Identified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3247825200"/>
                  </a:ext>
                </a:extLst>
              </a:tr>
              <a:tr h="10101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+mn-lt"/>
                        </a:rPr>
                        <a:t>Mansour et al. – Deep Learning-Based Evaluation of Suture Images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+mn-lt"/>
                        </a:rPr>
                        <a:t>CNN-based framework for automated suture assessment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+mn-lt"/>
                        </a:rPr>
                        <a:t>Surgical suture image dataset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latin typeface="+mn-lt"/>
                        </a:rPr>
                        <a:t>~95% Accuracy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+mn-lt"/>
                        </a:rPr>
                        <a:t>Focused only on image classification; no quantitative suturing metrics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1713769963"/>
                  </a:ext>
                </a:extLst>
              </a:tr>
              <a:tr h="10101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+mn-lt"/>
                        </a:rPr>
                        <a:t>Tao et al. – Sparse Hidden Markov Models for Surgical Skill Classification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+mn-lt"/>
                        </a:rPr>
                        <a:t>Hidden Markov Models (HMM) for gesture recognition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+mn-lt"/>
                        </a:rPr>
                        <a:t>Surgical gesture datasets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+mn-lt"/>
                        </a:rPr>
                        <a:t>High classification performance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+mn-lt"/>
                        </a:rPr>
                        <a:t>No landmark detection or spacing analysis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39163315"/>
                  </a:ext>
                </a:extLst>
              </a:tr>
              <a:tr h="10101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+mn-lt"/>
                        </a:rPr>
                        <a:t>Hu et al. – Real-Time Surgical Skill Assessment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+mn-lt"/>
                        </a:rPr>
                        <a:t>Temporal ML and Deep Learning models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+mn-lt"/>
                        </a:rPr>
                        <a:t>JIGSAWS dataset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+mn-lt"/>
                        </a:rPr>
                        <a:t>Real-time skill prediction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+mn-lt"/>
                        </a:rPr>
                        <a:t>Requires temporal data; no suturing parameter estimation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340675637"/>
                  </a:ext>
                </a:extLst>
              </a:tr>
              <a:tr h="7770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+mn-lt"/>
                        </a:rPr>
                        <a:t>Zia et al. – Robotic Surgery Skill Assessment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+mn-lt"/>
                        </a:rPr>
                        <a:t>Machine Learning-based assessment framework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+mn-lt"/>
                        </a:rPr>
                        <a:t>Robotic MIS dataset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+mn-lt"/>
                        </a:rPr>
                        <a:t>Accurate skill classification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latin typeface="+mn-lt"/>
                        </a:rPr>
                        <a:t>Focused on robotic surgery only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7820084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60008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0EFE0-DD2B-6246-5B88-21818A199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79934"/>
          </a:xfrm>
        </p:spPr>
        <p:txBody>
          <a:bodyPr/>
          <a:lstStyle/>
          <a:p>
            <a:r>
              <a:rPr lang="en-US" dirty="0"/>
              <a:t>                           Methodology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43C624-5105-0C15-A6CB-A06EF23F3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20516-70CF-47FE-AA80-3DABE7EA9D45}" type="slidenum">
              <a:rPr lang="en-IN" smtClean="0"/>
              <a:t>7</a:t>
            </a:fld>
            <a:endParaRPr lang="en-IN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9469" y="1739360"/>
            <a:ext cx="7977453" cy="4351338"/>
          </a:xfrm>
        </p:spPr>
      </p:pic>
    </p:spTree>
    <p:extLst>
      <p:ext uri="{BB962C8B-B14F-4D97-AF65-F5344CB8AC3E}">
        <p14:creationId xmlns:p14="http://schemas.microsoft.com/office/powerpoint/2010/main" val="10766545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DABE5-2B9B-8E98-4C3B-115AF8359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0A966-32F4-46AB-9CD2-ABA7E2C2E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Calibri(boby)"/>
              </a:rPr>
              <a:t>Models Used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CC27E3-5649-9F06-0514-04807BCE6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20516-70CF-47FE-AA80-3DABE7EA9D45}" type="slidenum">
              <a:rPr lang="en-IN" smtClean="0"/>
              <a:t>8</a:t>
            </a:fld>
            <a:endParaRPr lang="en-IN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6EEA703-305D-C2A9-757F-4DF3DADBCCF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00549" y="1502543"/>
            <a:ext cx="10370574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YOLOv8n selected for lightweight deployment.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Single-stage object detector.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High accuracy and fast inference.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Detects Sutured and Pull-Through landmarks.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Generates bounding box coordinates.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Coordinates used for metric computation. </a:t>
            </a:r>
          </a:p>
        </p:txBody>
      </p:sp>
    </p:spTree>
    <p:extLst>
      <p:ext uri="{BB962C8B-B14F-4D97-AF65-F5344CB8AC3E}">
        <p14:creationId xmlns:p14="http://schemas.microsoft.com/office/powerpoint/2010/main" val="32030804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45BB5-6543-7C36-62F3-9805312FC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16252"/>
          </a:xfrm>
        </p:spPr>
        <p:txBody>
          <a:bodyPr/>
          <a:lstStyle/>
          <a:p>
            <a:r>
              <a:rPr lang="en-US" b="1" dirty="0">
                <a:latin typeface="+mn-lt"/>
              </a:rPr>
              <a:t>                           Training Details</a:t>
            </a:r>
            <a:endParaRPr lang="en-IN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B97BE-9B85-768C-EF60-66F7D61F5F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9708" y="1081378"/>
            <a:ext cx="10515600" cy="5216055"/>
          </a:xfrm>
        </p:spPr>
        <p:txBody>
          <a:bodyPr>
            <a:normAutofit/>
          </a:bodyPr>
          <a:lstStyle/>
          <a:p>
            <a:r>
              <a:rPr lang="en-IN" sz="2000" dirty="0"/>
              <a:t>Model: YOLOv8n</a:t>
            </a:r>
          </a:p>
          <a:p>
            <a:r>
              <a:rPr lang="en-IN" sz="2000" dirty="0"/>
              <a:t>Framework: </a:t>
            </a:r>
            <a:r>
              <a:rPr lang="en-IN" sz="2000" dirty="0" err="1"/>
              <a:t>PyTorch</a:t>
            </a:r>
            <a:r>
              <a:rPr lang="en-IN" sz="2000" dirty="0"/>
              <a:t> + </a:t>
            </a:r>
            <a:r>
              <a:rPr lang="en-IN" sz="2000" dirty="0" err="1"/>
              <a:t>Ultralytics</a:t>
            </a:r>
            <a:r>
              <a:rPr lang="en-IN" sz="2000" dirty="0"/>
              <a:t> </a:t>
            </a:r>
          </a:p>
          <a:p>
            <a:r>
              <a:rPr lang="en-IN" sz="2000" dirty="0"/>
              <a:t>Classes: 2 </a:t>
            </a:r>
          </a:p>
          <a:p>
            <a:r>
              <a:rPr lang="en-IN" sz="2000" dirty="0"/>
              <a:t>Image Size: 640 × 640 </a:t>
            </a:r>
          </a:p>
          <a:p>
            <a:r>
              <a:rPr lang="en-IN" sz="2000" dirty="0"/>
              <a:t>Epochs: 50 </a:t>
            </a:r>
          </a:p>
          <a:p>
            <a:r>
              <a:rPr lang="en-IN" sz="2000" dirty="0"/>
              <a:t>Platform: Kaggle GPU 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r>
              <a:rPr lang="en-IN" sz="2000" b="1" dirty="0"/>
              <a:t>    Metrics Used</a:t>
            </a:r>
          </a:p>
          <a:p>
            <a:r>
              <a:rPr lang="en-IN" sz="2000" dirty="0"/>
              <a:t>Precision </a:t>
            </a:r>
          </a:p>
          <a:p>
            <a:r>
              <a:rPr lang="en-IN" sz="2000" dirty="0"/>
              <a:t>Recall </a:t>
            </a:r>
          </a:p>
          <a:p>
            <a:r>
              <a:rPr lang="en-IN" sz="2000" dirty="0"/>
              <a:t>F1 Score </a:t>
            </a:r>
          </a:p>
          <a:p>
            <a:r>
              <a:rPr lang="en-IN" sz="2000" dirty="0"/>
              <a:t>mAP@0.5 </a:t>
            </a:r>
          </a:p>
          <a:p>
            <a:endParaRPr lang="en-IN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F00E50-9943-BD78-C033-C8DAF0202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20516-70CF-47FE-AA80-3DABE7EA9D45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40150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16861-F84C-7813-FFD8-F51DA9158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(boby)"/>
              </a:rPr>
              <a:t>                       Results</a:t>
            </a:r>
            <a:endParaRPr lang="en-IN" dirty="0">
              <a:latin typeface="Calibri(boby)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F24073-0EBE-7B60-2FD7-40812D9B62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3859" y="1765190"/>
            <a:ext cx="10515600" cy="3928244"/>
          </a:xfrm>
        </p:spPr>
        <p:txBody>
          <a:bodyPr>
            <a:normAutofit/>
          </a:bodyPr>
          <a:lstStyle/>
          <a:p>
            <a:r>
              <a:rPr lang="en-IN" sz="2400" dirty="0"/>
              <a:t>Successfully detected surgical landmarks using YOLOv8n. </a:t>
            </a:r>
          </a:p>
          <a:p>
            <a:r>
              <a:rPr lang="en-IN" sz="2400" dirty="0"/>
              <a:t>Achieved 98.3% mAP@0.5 and 97% F1 Score.</a:t>
            </a:r>
          </a:p>
          <a:p>
            <a:r>
              <a:rPr lang="en-IN" sz="2400" dirty="0"/>
              <a:t>Performed automated bite-size measurement from detected landmarks.</a:t>
            </a:r>
          </a:p>
          <a:p>
            <a:r>
              <a:rPr lang="en-IN" sz="2400" dirty="0"/>
              <a:t>Enabled objective and quantitative assessment of suturing performance.</a:t>
            </a:r>
          </a:p>
          <a:p>
            <a:r>
              <a:rPr lang="en-IN" sz="2400" dirty="0"/>
              <a:t>Reduced dependence on manual observation and evaluation.</a:t>
            </a:r>
          </a:p>
          <a:p>
            <a:pPr marL="0" indent="0">
              <a:buNone/>
            </a:pPr>
            <a:endParaRPr lang="en-IN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6675E1-5EF9-9C5E-7606-EB6BFC438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20516-70CF-47FE-AA80-3DABE7EA9D45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8422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DBE11-2D9B-2A69-A7F1-AA9F713CC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24505"/>
          </a:xfrm>
        </p:spPr>
        <p:txBody>
          <a:bodyPr/>
          <a:lstStyle/>
          <a:p>
            <a:r>
              <a:rPr lang="en-US" dirty="0">
                <a:latin typeface="Calibri(boby)"/>
              </a:rPr>
              <a:t>               </a:t>
            </a:r>
            <a:r>
              <a:rPr lang="en-US" b="1" dirty="0">
                <a:latin typeface="Calibri(boby)"/>
              </a:rPr>
              <a:t>Performance Analysis</a:t>
            </a:r>
            <a:endParaRPr lang="en-IN" b="1" dirty="0">
              <a:latin typeface="Calibri(boby)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C9BD73-9B70-2A68-7272-FAA30DBE9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20516-70CF-47FE-AA80-3DABE7EA9D45}" type="slidenum">
              <a:rPr lang="en-IN" smtClean="0"/>
              <a:t>11</a:t>
            </a:fld>
            <a:endParaRPr lang="en-IN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9091961-9AA8-AD71-A606-32EC816B44F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90717" y="1812821"/>
            <a:ext cx="6720366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dirty="0"/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Training and validation losses decreased steadily.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Model achieved stable convergence.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High precision and recall observed.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Very few false detections.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Strong generalization across surgical videos.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Suitable for automated skill assessment. </a:t>
            </a:r>
          </a:p>
        </p:txBody>
      </p:sp>
    </p:spTree>
    <p:extLst>
      <p:ext uri="{BB962C8B-B14F-4D97-AF65-F5344CB8AC3E}">
        <p14:creationId xmlns:p14="http://schemas.microsoft.com/office/powerpoint/2010/main" val="12594504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0E5E8-B97D-254D-A5E2-EDB0E7FA5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libri(boby)"/>
              </a:rPr>
              <a:t>                      Applications</a:t>
            </a:r>
            <a:endParaRPr lang="en-IN" b="1" dirty="0">
              <a:latin typeface="Calibri(boby)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FED72-0060-6AC9-A2BB-67A7BD2D34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982" y="142010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800" b="1" dirty="0"/>
          </a:p>
          <a:p>
            <a:r>
              <a:rPr lang="en-IN" sz="2400" dirty="0"/>
              <a:t>Automated surgical skill assessment in medical training institutes.</a:t>
            </a:r>
          </a:p>
          <a:p>
            <a:r>
              <a:rPr lang="en-IN" sz="2400" dirty="0"/>
              <a:t>Real-time analysis of surgical suturing performance from videos.</a:t>
            </a:r>
          </a:p>
          <a:p>
            <a:r>
              <a:rPr lang="en-IN" sz="2400" dirty="0"/>
              <a:t>Intelligent feedback systems for surgical trainees and students.</a:t>
            </a:r>
          </a:p>
          <a:p>
            <a:r>
              <a:rPr lang="en-IN" sz="2400" dirty="0"/>
              <a:t>Computer-assisted evaluation in robotic and minimally invasive surgery.</a:t>
            </a:r>
          </a:p>
          <a:p>
            <a:r>
              <a:rPr lang="en-IN" sz="2400" dirty="0"/>
              <a:t>Healthcare research and development using AI-based surgical analysis systems.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6A26EA-79C0-47FE-6B22-F789494C3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20516-70CF-47FE-AA80-3DABE7EA9D45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59970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1416C-C8F5-0873-7F6A-20BF7F9B5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9477" y="227473"/>
            <a:ext cx="10515600" cy="1325563"/>
          </a:xfrm>
        </p:spPr>
        <p:txBody>
          <a:bodyPr/>
          <a:lstStyle/>
          <a:p>
            <a:r>
              <a:rPr lang="en-US" b="1" dirty="0">
                <a:latin typeface="Calibri(boby)"/>
              </a:rPr>
              <a:t>                     Conclusion</a:t>
            </a:r>
            <a:endParaRPr lang="en-IN" b="1" dirty="0">
              <a:latin typeface="Calibri(boby)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B0D827-FE94-458D-4E3E-F9D07054E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20516-70CF-47FE-AA80-3DABE7EA9D45}" type="slidenum">
              <a:rPr lang="en-IN" smtClean="0"/>
              <a:t>13</a:t>
            </a:fld>
            <a:endParaRPr lang="en-IN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F6D0D32-786C-D2B1-9A22-BEBCE3462D2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33168" y="1226956"/>
            <a:ext cx="7415428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Developed an AI-based suturing assessment framework.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YOLOv8 successfully detected surgical landmarks.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Achieved 98.3% mAP@0.5 and 97% F1 Score.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Automated bite-size estimation performed.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Reduced dependence on manual evaluation.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Supports objective surgical training. </a:t>
            </a:r>
          </a:p>
        </p:txBody>
      </p:sp>
    </p:spTree>
    <p:extLst>
      <p:ext uri="{BB962C8B-B14F-4D97-AF65-F5344CB8AC3E}">
        <p14:creationId xmlns:p14="http://schemas.microsoft.com/office/powerpoint/2010/main" val="21757168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1416C-C8F5-0873-7F6A-20BF7F9B5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libri(boby)"/>
              </a:rPr>
              <a:t>                     Conclusion</a:t>
            </a:r>
            <a:endParaRPr lang="en-IN" b="1" dirty="0">
              <a:latin typeface="Calibri(boby)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B0D827-FE94-458D-4E3E-F9D07054E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20516-70CF-47FE-AA80-3DABE7EA9D45}" type="slidenum">
              <a:rPr lang="en-IN" smtClean="0"/>
              <a:t>14</a:t>
            </a:fld>
            <a:endParaRPr lang="en-IN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9605" y="1690688"/>
            <a:ext cx="8702676" cy="4351338"/>
          </a:xfrm>
        </p:spPr>
      </p:pic>
    </p:spTree>
    <p:extLst>
      <p:ext uri="{BB962C8B-B14F-4D97-AF65-F5344CB8AC3E}">
        <p14:creationId xmlns:p14="http://schemas.microsoft.com/office/powerpoint/2010/main" val="34211086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1416C-C8F5-0873-7F6A-20BF7F9B5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libri(boby)"/>
              </a:rPr>
              <a:t>                     Conclusion</a:t>
            </a:r>
            <a:endParaRPr lang="en-IN" b="1" dirty="0">
              <a:latin typeface="Calibri(boby)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B0D827-FE94-458D-4E3E-F9D07054E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20516-70CF-47FE-AA80-3DABE7EA9D45}" type="slidenum">
              <a:rPr lang="en-IN" smtClean="0"/>
              <a:t>15</a:t>
            </a:fld>
            <a:endParaRPr lang="en-IN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216" y="1690688"/>
            <a:ext cx="5801784" cy="4351338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8192" y="1468528"/>
            <a:ext cx="6373808" cy="4259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1431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1416C-C8F5-0873-7F6A-20BF7F9B5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libri(boby)"/>
              </a:rPr>
              <a:t>                     Conclusion</a:t>
            </a:r>
            <a:endParaRPr lang="en-IN" b="1" dirty="0">
              <a:latin typeface="Calibri(boby)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B0D827-FE94-458D-4E3E-F9D07054E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20516-70CF-47FE-AA80-3DABE7EA9D45}" type="slidenum">
              <a:rPr lang="en-IN" smtClean="0"/>
              <a:t>16</a:t>
            </a:fld>
            <a:endParaRPr lang="en-IN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714" y="1342545"/>
            <a:ext cx="6140570" cy="4351338"/>
          </a:xfr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9428" y="1201272"/>
            <a:ext cx="5132716" cy="4823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217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D2A21-CCB8-3013-2408-17B04F944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libri(boby)"/>
              </a:rPr>
              <a:t>                     Future Scope</a:t>
            </a:r>
            <a:endParaRPr lang="en-IN" b="1" dirty="0">
              <a:latin typeface="Calibri(boby)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B8738-0B87-A14F-FD43-EF8FA671BC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1567" y="1208598"/>
            <a:ext cx="10515600" cy="400745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1800" b="1" dirty="0"/>
          </a:p>
          <a:p>
            <a:pPr algn="just"/>
            <a:r>
              <a:rPr lang="en-IN" sz="2000" dirty="0"/>
              <a:t>Integration of additional surgical parameters such as wound approximation and needle entry angle analysis.</a:t>
            </a:r>
          </a:p>
          <a:p>
            <a:pPr algn="just"/>
            <a:r>
              <a:rPr lang="en-IN" sz="2000" dirty="0"/>
              <a:t>Development of real-time surgical skill assessment and feedback systems.</a:t>
            </a:r>
          </a:p>
          <a:p>
            <a:pPr algn="just"/>
            <a:r>
              <a:rPr lang="en-IN" sz="2000" dirty="0"/>
              <a:t>Use of larger and more diverse surgical datasets for improved model accuracy.</a:t>
            </a:r>
          </a:p>
          <a:p>
            <a:pPr algn="just"/>
            <a:r>
              <a:rPr lang="en-IN" sz="2000" dirty="0"/>
              <a:t>Development of a complete automated surgical training and evaluation platform using advanced AI techniques.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0CAA78-BD4C-85A3-52D0-241CDD469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20516-70CF-47FE-AA80-3DABE7EA9D45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72737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DCDB1-5EA7-801B-BEDF-9C47754D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880" y="0"/>
            <a:ext cx="10515600" cy="712029"/>
          </a:xfrm>
        </p:spPr>
        <p:txBody>
          <a:bodyPr/>
          <a:lstStyle/>
          <a:p>
            <a:r>
              <a:rPr lang="en-US" b="1" dirty="0">
                <a:latin typeface="Calibri(boby)"/>
              </a:rPr>
              <a:t>                       References</a:t>
            </a:r>
            <a:endParaRPr lang="en-IN" b="1" dirty="0">
              <a:latin typeface="Calibri(boby)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715E6E-045D-5BD7-D3E5-A2FE3F852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20516-70CF-47FE-AA80-3DABE7EA9D45}" type="slidenum">
              <a:rPr lang="en-IN" smtClean="0"/>
              <a:t>18</a:t>
            </a:fld>
            <a:endParaRPr lang="en-IN"/>
          </a:p>
        </p:txBody>
      </p:sp>
      <p:sp>
        <p:nvSpPr>
          <p:cNvPr id="8" name="Rectangle 4"/>
          <p:cNvSpPr>
            <a:spLocks noGrp="1" noChangeArrowheads="1"/>
          </p:cNvSpPr>
          <p:nvPr>
            <p:ph idx="1"/>
          </p:nvPr>
        </p:nvSpPr>
        <p:spPr bwMode="auto">
          <a:xfrm>
            <a:off x="176522" y="647909"/>
            <a:ext cx="11434633" cy="5799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body"/>
              </a:rPr>
              <a:t>[1] Mansour et al.: Deep Learning-Based Evaluation of Suture Images for Surgical Training. CNN-based framework for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sz="1800" dirty="0">
                <a:latin typeface="Calibribody"/>
              </a:rPr>
              <a:t>      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body"/>
              </a:rPr>
              <a:t>automated surgical suture assessment.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1800" dirty="0">
                <a:latin typeface="Calibribody"/>
              </a:rPr>
              <a:t>[2] Tao et al.: </a:t>
            </a:r>
            <a:r>
              <a:rPr lang="en-IN" sz="1800" i="1" dirty="0">
                <a:latin typeface="Calibribody"/>
              </a:rPr>
              <a:t>Sparse Hidden Markov Models for Surgical Skill Classification.</a:t>
            </a:r>
            <a:r>
              <a:rPr lang="en-IN" sz="1800" dirty="0">
                <a:latin typeface="Calibribody"/>
              </a:rPr>
              <a:t> HMM-based surgical gesture classification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1800" dirty="0">
                <a:latin typeface="Calibribody"/>
              </a:rPr>
              <a:t>      approach.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1800" dirty="0">
                <a:latin typeface="Calibribody"/>
              </a:rPr>
              <a:t>[3] Hu, et al.: </a:t>
            </a:r>
            <a:r>
              <a:rPr lang="en-IN" sz="1800" i="1" dirty="0">
                <a:latin typeface="Calibribody"/>
              </a:rPr>
              <a:t>Real-Time Surgical Skill Assessment Using Temporal Models.</a:t>
            </a:r>
            <a:r>
              <a:rPr lang="en-IN" sz="1800" dirty="0">
                <a:latin typeface="Calibribody"/>
              </a:rPr>
              <a:t> Real-time surgical performance prediction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1800" dirty="0">
                <a:latin typeface="Calibribody"/>
              </a:rPr>
              <a:t>      using ML/DL models.</a:t>
            </a:r>
          </a:p>
          <a:p>
            <a:pPr marL="0" indent="0" algn="just">
              <a:buNone/>
            </a:pPr>
            <a:r>
              <a:rPr lang="en-IN" sz="1800" dirty="0">
                <a:latin typeface="Calibribody"/>
              </a:rPr>
              <a:t>[4] Zia, et al.: </a:t>
            </a:r>
            <a:r>
              <a:rPr lang="en-IN" sz="1800" i="1" dirty="0">
                <a:latin typeface="Calibribody"/>
              </a:rPr>
              <a:t>Automated Assessment of Surgical Skills in Robotic Minimally Invasive Surgery.</a:t>
            </a:r>
            <a:r>
              <a:rPr lang="en-IN" sz="1800" dirty="0">
                <a:latin typeface="Calibribody"/>
              </a:rPr>
              <a:t> Machine learning-based                                           robotic surgical skill evaluation.</a:t>
            </a:r>
          </a:p>
          <a:p>
            <a:pPr marL="0" indent="0">
              <a:buNone/>
            </a:pPr>
            <a:r>
              <a:rPr lang="en-IN" sz="1800" dirty="0">
                <a:latin typeface="Calibribody"/>
              </a:rPr>
              <a:t>[5] Wang, et al.: </a:t>
            </a:r>
            <a:r>
              <a:rPr lang="en-IN" sz="1800" i="1" dirty="0">
                <a:latin typeface="Calibribody"/>
              </a:rPr>
              <a:t>Deep Learning-Based Surgical Skill Assessment.</a:t>
            </a:r>
            <a:r>
              <a:rPr lang="en-IN" sz="1800" dirty="0">
                <a:latin typeface="Calibribody"/>
              </a:rPr>
              <a:t> CNN-based assessment framework using the JIGSAWS        dataset.</a:t>
            </a:r>
          </a:p>
          <a:p>
            <a:pPr marL="0" indent="0" algn="just">
              <a:buNone/>
            </a:pPr>
            <a:r>
              <a:rPr lang="en-IN" sz="1800" dirty="0">
                <a:latin typeface="Calibribody"/>
              </a:rPr>
              <a:t>[6] Khalid, et al.: </a:t>
            </a:r>
            <a:r>
              <a:rPr lang="en-IN" sz="1800" i="1" dirty="0">
                <a:latin typeface="Calibribody"/>
              </a:rPr>
              <a:t>Encoder–Decoder Skill Assessment Framework.</a:t>
            </a:r>
            <a:r>
              <a:rPr lang="en-IN" sz="1800" dirty="0">
                <a:latin typeface="Calibribody"/>
              </a:rPr>
              <a:t> Encoder–decoder deep learning framework for                                        </a:t>
            </a:r>
            <a:r>
              <a:rPr lang="en-IN" sz="1800" dirty="0" err="1">
                <a:latin typeface="Calibribody"/>
              </a:rPr>
              <a:t>surgicalskill</a:t>
            </a:r>
            <a:r>
              <a:rPr lang="en-IN" sz="1800" dirty="0">
                <a:latin typeface="Calibribody"/>
              </a:rPr>
              <a:t> analysis.</a:t>
            </a:r>
          </a:p>
          <a:p>
            <a:pPr marL="0" indent="0">
              <a:buNone/>
            </a:pPr>
            <a:r>
              <a:rPr lang="en-IN" sz="1800" dirty="0">
                <a:latin typeface="Calibribody"/>
              </a:rPr>
              <a:t>[7] Liu, et al.: </a:t>
            </a:r>
            <a:r>
              <a:rPr lang="en-IN" sz="1800" i="1" dirty="0">
                <a:latin typeface="Calibribody"/>
              </a:rPr>
              <a:t>Multi-Path Deep Learning Framework for Surgical Skill Assessment.</a:t>
            </a:r>
            <a:r>
              <a:rPr lang="en-IN" sz="1800" dirty="0">
                <a:latin typeface="Calibribody"/>
              </a:rPr>
              <a:t> Multi-path architecture for surgical        video analysis.</a:t>
            </a:r>
          </a:p>
          <a:p>
            <a:pPr marL="0" indent="0">
              <a:buNone/>
            </a:pPr>
            <a:r>
              <a:rPr lang="en-IN" sz="1800" dirty="0">
                <a:latin typeface="Calibribody"/>
              </a:rPr>
              <a:t>[8] Baby, et al.: </a:t>
            </a:r>
            <a:r>
              <a:rPr lang="en-IN" sz="1800" i="1" dirty="0">
                <a:latin typeface="Calibribody"/>
              </a:rPr>
              <a:t>Rank-Based Skill Evaluation.</a:t>
            </a:r>
            <a:r>
              <a:rPr lang="en-IN" sz="1800" dirty="0">
                <a:latin typeface="Calibribody"/>
              </a:rPr>
              <a:t> Deep learning with ranking loss for surgical skill evaluation.</a:t>
            </a:r>
          </a:p>
          <a:p>
            <a:pPr marL="0" indent="0">
              <a:buNone/>
            </a:pPr>
            <a:r>
              <a:rPr lang="en-IN" sz="1800" dirty="0">
                <a:latin typeface="Calibribody"/>
              </a:rPr>
              <a:t>[9] </a:t>
            </a:r>
            <a:r>
              <a:rPr lang="en-IN" sz="1800" dirty="0" err="1">
                <a:latin typeface="Calibribody"/>
              </a:rPr>
              <a:t>Dhanakshirur</a:t>
            </a:r>
            <a:r>
              <a:rPr lang="en-IN" sz="1800" dirty="0">
                <a:latin typeface="Calibribody"/>
              </a:rPr>
              <a:t>, et al.: </a:t>
            </a:r>
            <a:r>
              <a:rPr lang="en-IN" sz="1800" i="1" dirty="0">
                <a:latin typeface="Calibribody"/>
              </a:rPr>
              <a:t>Micro-Suturing Skill Assessment.</a:t>
            </a:r>
            <a:r>
              <a:rPr lang="en-IN" sz="1800" dirty="0">
                <a:latin typeface="Calibribody"/>
              </a:rPr>
              <a:t> MT-CNN-based </a:t>
            </a:r>
            <a:r>
              <a:rPr lang="en-IN" sz="1800" dirty="0" err="1">
                <a:latin typeface="Calibribody"/>
              </a:rPr>
              <a:t>microsuturing</a:t>
            </a:r>
            <a:r>
              <a:rPr lang="en-IN" sz="1800" dirty="0">
                <a:latin typeface="Calibribody"/>
              </a:rPr>
              <a:t> skill scoring framework.</a:t>
            </a:r>
          </a:p>
          <a:p>
            <a:pPr marL="0" indent="0">
              <a:buNone/>
            </a:pPr>
            <a:r>
              <a:rPr lang="en-IN" sz="1800" dirty="0">
                <a:latin typeface="Calibribody"/>
              </a:rPr>
              <a:t>[10] </a:t>
            </a:r>
            <a:r>
              <a:rPr lang="en-IN" sz="1800" dirty="0" err="1">
                <a:latin typeface="Calibribody"/>
              </a:rPr>
              <a:t>Handelman</a:t>
            </a:r>
            <a:r>
              <a:rPr lang="en-IN" sz="1800" dirty="0">
                <a:latin typeface="Calibribody"/>
              </a:rPr>
              <a:t>, et al.: </a:t>
            </a:r>
            <a:r>
              <a:rPr lang="en-IN" sz="1800" i="1" dirty="0">
                <a:latin typeface="Calibribody"/>
              </a:rPr>
              <a:t>Morphological Skill Evaluation.</a:t>
            </a:r>
            <a:r>
              <a:rPr lang="en-IN" sz="1800" dirty="0">
                <a:latin typeface="Calibribody"/>
              </a:rPr>
              <a:t> Image processing techniques for evaluating surgical morphology.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70062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FEC0D-78BC-790D-29EA-F6B244A35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936" y="173482"/>
            <a:ext cx="10515600" cy="523396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Calibri(boby)"/>
              </a:rPr>
              <a:t>                         References</a:t>
            </a:r>
            <a:endParaRPr lang="en-IN" b="1" dirty="0">
              <a:latin typeface="Calibri(boby)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01C249-1A9D-9883-FC1B-59B10CA1C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20516-70CF-47FE-AA80-3DABE7EA9D45}" type="slidenum">
              <a:rPr lang="en-IN" smtClean="0"/>
              <a:t>19</a:t>
            </a:fld>
            <a:endParaRPr lang="en-IN"/>
          </a:p>
        </p:txBody>
      </p:sp>
      <p:sp>
        <p:nvSpPr>
          <p:cNvPr id="5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315066" y="1031815"/>
            <a:ext cx="11561868" cy="5324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ibari(boby)"/>
              </a:rPr>
              <a:t>[11] 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ibari(boby)"/>
              </a:rPr>
              <a:t>Kil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ibari(boby)"/>
              </a:rPr>
              <a:t>, et al.: Image-Based Suturing Skill Assessment. Computer vision-based suturing skill evaluation using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sz="2000" dirty="0">
                <a:latin typeface="Caibari(boby)"/>
              </a:rPr>
              <a:t>        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ibari(boby)"/>
              </a:rPr>
              <a:t>image datasets.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ibari(boby)"/>
              </a:rPr>
              <a:t>[12] 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ibari(boby)"/>
              </a:rPr>
              <a:t>Sirajudeen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ibari(boby)"/>
              </a:rPr>
              <a:t>, et al.: Skill and Error Prediction in Robotic Surgery. Deep learning-based surgical error and skill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sz="2000" dirty="0">
                <a:latin typeface="Caibari(boby)"/>
              </a:rPr>
              <a:t>        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ibari(boby)"/>
              </a:rPr>
              <a:t>prediction.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ibari(boby)"/>
              </a:rPr>
              <a:t>[13] 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ibari(boby)"/>
              </a:rPr>
              <a:t>Khairnar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ibari(boby)"/>
              </a:rPr>
              <a:t>, et al.: ML-Based Laparoscopic Skill Assessment. Machine learning approaches including RF, SVM,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sz="2000" dirty="0">
                <a:latin typeface="Caibari(boby)"/>
              </a:rPr>
              <a:t>        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ibari(boby)"/>
              </a:rPr>
              <a:t>and CNN for laparoscopic assessment.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ibari(boby)"/>
              </a:rPr>
              <a:t>[14] Hu, et al.: Multimodal Skill Assessment. Multimodal deep learning framework for surgical performance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sz="2000" dirty="0">
                <a:latin typeface="Caibari(boby)"/>
              </a:rPr>
              <a:t>        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ibari(boby)"/>
              </a:rPr>
              <a:t>evaluation.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ibari(boby)"/>
              </a:rPr>
              <a:t>[15] Wang, et al.: Time-Series Skill Evaluation. CNN-based time-series surgical skill analysis using JIGSAWS.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ibari(boby)"/>
              </a:rPr>
              <a:t>[16] 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ibari(boby)"/>
              </a:rPr>
              <a:t>Dhanakshirur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ibari(boby)"/>
              </a:rPr>
              <a:t>, et al.: Automated Micro-Suturing Evaluation. CNN-based automated 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ibari(boby)"/>
              </a:rPr>
              <a:t>microsuturing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ibari(boby)"/>
              </a:rPr>
              <a:t> scoring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sz="2000" dirty="0">
                <a:latin typeface="Caibari(boby)"/>
              </a:rPr>
              <a:t>        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ibari(boby)"/>
              </a:rPr>
              <a:t>system.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ibari(boby)"/>
              </a:rPr>
              <a:t>[17] 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ibari(boby)"/>
              </a:rPr>
              <a:t>Kil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ibari(boby)"/>
              </a:rPr>
              <a:t>, et al.: CV-Based Skill Metrics. Computer vision-based metrics for differentiating surgical skill levels.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ibari(boby)"/>
              </a:rPr>
              <a:t>[18] 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ibari(boby)"/>
              </a:rPr>
              <a:t>Sirajudeen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ibari(boby)"/>
              </a:rPr>
              <a:t>, et al.: Error Detection in Surgery. MS-TCN framework for surgical error detection and analysis.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ibari(boby)"/>
              </a:rPr>
              <a:t>[19] 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ibari(boby)"/>
              </a:rPr>
              <a:t>Khairnar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ibari(boby)"/>
              </a:rPr>
              <a:t>, et al.: Tool Tracking for Skill Assessment. YOLOv8 and deep learning-based surgical tool tracking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sz="2000" dirty="0">
                <a:latin typeface="Caibari(boby)"/>
              </a:rPr>
              <a:t>        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ibari(boby)"/>
              </a:rPr>
              <a:t>framework.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ibari(boby)"/>
              </a:rPr>
              <a:t>[20] Hu, et al.: Window-Based Real-Time Assessment. Real-time surgical skill assessment using window-based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sz="2000" dirty="0">
                <a:latin typeface="Caibari(boby)"/>
              </a:rPr>
              <a:t>        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ibari(boby)"/>
              </a:rPr>
              <a:t>ML/DL methods.</a:t>
            </a:r>
          </a:p>
        </p:txBody>
      </p:sp>
    </p:spTree>
    <p:extLst>
      <p:ext uri="{BB962C8B-B14F-4D97-AF65-F5344CB8AC3E}">
        <p14:creationId xmlns:p14="http://schemas.microsoft.com/office/powerpoint/2010/main" val="147738341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85*169"/>
  <p:tag name="TABLE_ENDDRAG_RECT" val="154*204*685*16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1085</TotalTime>
  <Words>1265</Words>
  <Application>Microsoft Office PowerPoint</Application>
  <PresentationFormat>Widescreen</PresentationFormat>
  <Paragraphs>204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0" baseType="lpstr">
      <vt:lpstr>Aptos</vt:lpstr>
      <vt:lpstr>Arial</vt:lpstr>
      <vt:lpstr>Caibari(boby)</vt:lpstr>
      <vt:lpstr>Calibri</vt:lpstr>
      <vt:lpstr>Calibri Light</vt:lpstr>
      <vt:lpstr>Calibri(boby)</vt:lpstr>
      <vt:lpstr>Calibribody</vt:lpstr>
      <vt:lpstr>LM Sans 8</vt:lpstr>
      <vt:lpstr>Rockwell Extra Bold</vt:lpstr>
      <vt:lpstr>Times New Roman</vt:lpstr>
      <vt:lpstr>Office Theme</vt:lpstr>
      <vt:lpstr> </vt:lpstr>
      <vt:lpstr>PowerPoint Presentation</vt:lpstr>
      <vt:lpstr>PowerPoint Presentation</vt:lpstr>
      <vt:lpstr>Problem Statement</vt:lpstr>
      <vt:lpstr>Objective</vt:lpstr>
      <vt:lpstr>Literature Survey</vt:lpstr>
      <vt:lpstr>                           Methodology</vt:lpstr>
      <vt:lpstr>Models Used </vt:lpstr>
      <vt:lpstr>                           Training Details</vt:lpstr>
      <vt:lpstr>                       Results</vt:lpstr>
      <vt:lpstr>               Performance Analysis</vt:lpstr>
      <vt:lpstr>                      Applications</vt:lpstr>
      <vt:lpstr>                     Conclusion</vt:lpstr>
      <vt:lpstr>                     Conclusion</vt:lpstr>
      <vt:lpstr>                     Conclusion</vt:lpstr>
      <vt:lpstr>                     Conclusion</vt:lpstr>
      <vt:lpstr>                     Future Scope</vt:lpstr>
      <vt:lpstr>                       References</vt:lpstr>
      <vt:lpstr>                         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 Team member (Name, SRN) under guidance of Dr.Prema T. Akkasaligar and Dr. Santosh Pattar</dc:title>
  <dc:creator>Prema T. Akkasaligar</dc:creator>
  <cp:lastModifiedBy>Shrushti Hulbutte</cp:lastModifiedBy>
  <cp:revision>95</cp:revision>
  <dcterms:created xsi:type="dcterms:W3CDTF">2023-11-06T07:27:32Z</dcterms:created>
  <dcterms:modified xsi:type="dcterms:W3CDTF">2026-06-02T09:18:03Z</dcterms:modified>
</cp:coreProperties>
</file>