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D60F7E-B0EA-4F9F-817F-D0E32362845C}">
  <a:tblStyle styleId="{99D60F7E-B0EA-4F9F-817F-D0E32362845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5BF988E1-8761-42A7-9806-C56E7F85130F}"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ED6F4F1-CEC0-48CD-BCFA-4CB3B36DE78E}" styleName="Table_2">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94b69a9fd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f94b69a9fd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1" Type="http://schemas.openxmlformats.org/officeDocument/2006/relationships/hyperlink" Target="https://doi.org/10.1093/bjs/znad331" TargetMode="External"/><Relationship Id="rId10" Type="http://schemas.openxmlformats.org/officeDocument/2006/relationships/hyperlink" Target="https://www.sciencedirect.com/science/article/pii/S0002961024006263?utm_source=chatgpt.com" TargetMode="External"/><Relationship Id="rId13" Type="http://schemas.openxmlformats.org/officeDocument/2006/relationships/hyperlink" Target="https://doi.org/10.1016/j.surg.2023.07.007" TargetMode="External"/><Relationship Id="rId12" Type="http://schemas.openxmlformats.org/officeDocument/2006/relationships/hyperlink" Target="https://academic.oup.com/bjs/article/111/1/znad331/7407357?utm_source=chatgpt.com" TargetMode="External"/><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i.org/10.1016/j.compbiomed.2025.110238" TargetMode="External"/><Relationship Id="rId4" Type="http://schemas.openxmlformats.org/officeDocument/2006/relationships/hyperlink" Target="https://www.sciencedirect.com/science/article/pii/S001048252500589X?utm_source=chatgpt.com" TargetMode="External"/><Relationship Id="rId9" Type="http://schemas.openxmlformats.org/officeDocument/2006/relationships/hyperlink" Target="https://doi.org/10.1016/j.amjsurg.2024.116074" TargetMode="External"/><Relationship Id="rId14" Type="http://schemas.openxmlformats.org/officeDocument/2006/relationships/hyperlink" Target="https://classicaproject.eu/project/project-publications/?utm_source=chatgpt.com" TargetMode="External"/><Relationship Id="rId5" Type="http://schemas.openxmlformats.org/officeDocument/2006/relationships/hyperlink" Target="https://doi.org/10.1007/s00464-025-12441-6" TargetMode="External"/><Relationship Id="rId6" Type="http://schemas.openxmlformats.org/officeDocument/2006/relationships/hyperlink" Target="https://link.springer.com/article/10.1007/s00464-025-12441-6?utm_source=chatgpt.com" TargetMode="External"/><Relationship Id="rId7" Type="http://schemas.openxmlformats.org/officeDocument/2006/relationships/hyperlink" Target="https://doi.org/10.3390/s23094496" TargetMode="External"/><Relationship Id="rId8" Type="http://schemas.openxmlformats.org/officeDocument/2006/relationships/hyperlink" Target="https://www.mdpi.com/1424-8220/23/9/4496?utm_source=chatgpt.com" TargetMode="External"/></Relationships>
</file>

<file path=ppt/slides/_rels/slide12.xml.rels><?xml version="1.0" encoding="UTF-8" standalone="yes"?><Relationships xmlns="http://schemas.openxmlformats.org/package/2006/relationships"><Relationship Id="rId10" Type="http://schemas.openxmlformats.org/officeDocument/2006/relationships/hyperlink" Target="https://ouci.dntb.gov.ua/en/works/4ry1LOw7/?utm_source=chatgpt.com" TargetMode="External"/><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i.org/10.1146/annurev-bioeng-071516-044435" TargetMode="External"/><Relationship Id="rId4" Type="http://schemas.openxmlformats.org/officeDocument/2006/relationships/hyperlink" Target="https://classicaproject.eu/project/project-publications/?utm_source=chatgpt.com" TargetMode="External"/><Relationship Id="rId9" Type="http://schemas.openxmlformats.org/officeDocument/2006/relationships/hyperlink" Target="https://doi.org/10.1080/24699322.2018.1560097" TargetMode="External"/><Relationship Id="rId5" Type="http://schemas.openxmlformats.org/officeDocument/2006/relationships/hyperlink" Target="https://doi.org/10.1007/s00464-019-07077-2" TargetMode="External"/><Relationship Id="rId6" Type="http://schemas.openxmlformats.org/officeDocument/2006/relationships/hyperlink" Target="https://classicaproject.eu/project/project-publications/?utm_source=chatgpt.com" TargetMode="External"/><Relationship Id="rId7" Type="http://schemas.openxmlformats.org/officeDocument/2006/relationships/hyperlink" Target="https://doi.org/10.1080/13645706.2019.1575882" TargetMode="External"/><Relationship Id="rId8" Type="http://schemas.openxmlformats.org/officeDocument/2006/relationships/hyperlink" Target="https://classicaproject.eu/project/project-publications/?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3"/>
          <p:cNvSpPr txBox="1"/>
          <p:nvPr>
            <p:ph type="ctrTitle"/>
          </p:nvPr>
        </p:nvSpPr>
        <p:spPr>
          <a:xfrm>
            <a:off x="1026365" y="2120265"/>
            <a:ext cx="10139265" cy="1621539"/>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Calibri"/>
              <a:buNone/>
            </a:pPr>
            <a:r>
              <a:rPr lang="en-IN" sz="3600">
                <a:latin typeface="Times New Roman"/>
                <a:ea typeface="Times New Roman"/>
                <a:cs typeface="Times New Roman"/>
                <a:sym typeface="Times New Roman"/>
              </a:rPr>
              <a:t>Framework for Artificial Intelligence in Quality Control of Suturing Among Undergraduates and Dermatology Residents</a:t>
            </a:r>
            <a:endParaRPr sz="3600">
              <a:latin typeface="Times New Roman"/>
              <a:ea typeface="Times New Roman"/>
              <a:cs typeface="Times New Roman"/>
              <a:sym typeface="Times New Roman"/>
            </a:endParaRPr>
          </a:p>
        </p:txBody>
      </p:sp>
      <p:sp>
        <p:nvSpPr>
          <p:cNvPr id="90" name="Google Shape;90;p13"/>
          <p:cNvSpPr txBox="1"/>
          <p:nvPr>
            <p:ph idx="10" type="dt"/>
          </p:nvPr>
        </p:nvSpPr>
        <p:spPr>
          <a:xfrm>
            <a:off x="838200" y="6446835"/>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91" name="Google Shape;91;p13"/>
          <p:cNvSpPr txBox="1"/>
          <p:nvPr>
            <p:ph idx="11" type="ftr"/>
          </p:nvPr>
        </p:nvSpPr>
        <p:spPr>
          <a:xfrm>
            <a:off x="4038600" y="6446837"/>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92" name="Google Shape;92;p13"/>
          <p:cNvSpPr txBox="1"/>
          <p:nvPr>
            <p:ph idx="12" type="sldNum"/>
          </p:nvPr>
        </p:nvSpPr>
        <p:spPr>
          <a:xfrm>
            <a:off x="8610600" y="644683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93" name="Google Shape;93;p13"/>
          <p:cNvSpPr/>
          <p:nvPr/>
        </p:nvSpPr>
        <p:spPr>
          <a:xfrm>
            <a:off x="0" y="0"/>
            <a:ext cx="1219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3"/>
          <p:cNvSpPr/>
          <p:nvPr/>
        </p:nvSpPr>
        <p:spPr>
          <a:xfrm>
            <a:off x="0" y="457200"/>
            <a:ext cx="0" cy="0"/>
          </a:xfrm>
          <a:prstGeom prst="rect">
            <a:avLst/>
          </a:prstGeom>
          <a:solidFill>
            <a:schemeClr val="accent1"/>
          </a:solidFill>
          <a:ln cap="flat" cmpd="sng" w="9525">
            <a:solidFill>
              <a:schemeClr val="dk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3"/>
          <p:cNvSpPr/>
          <p:nvPr/>
        </p:nvSpPr>
        <p:spPr>
          <a:xfrm>
            <a:off x="0" y="1384300"/>
            <a:ext cx="1219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6" name="Google Shape;96;p13"/>
          <p:cNvPicPr preferRelativeResize="0"/>
          <p:nvPr/>
        </p:nvPicPr>
        <p:blipFill rotWithShape="1">
          <a:blip r:embed="rId3">
            <a:alphaModFix/>
          </a:blip>
          <a:srcRect b="0" l="0" r="0" t="0"/>
          <a:stretch/>
        </p:blipFill>
        <p:spPr>
          <a:xfrm>
            <a:off x="3014662" y="0"/>
            <a:ext cx="6162675" cy="1457325"/>
          </a:xfrm>
          <a:prstGeom prst="rect">
            <a:avLst/>
          </a:prstGeom>
          <a:noFill/>
          <a:ln>
            <a:noFill/>
          </a:ln>
        </p:spPr>
      </p:pic>
      <p:sp>
        <p:nvSpPr>
          <p:cNvPr id="97" name="Google Shape;97;p13"/>
          <p:cNvSpPr txBox="1"/>
          <p:nvPr/>
        </p:nvSpPr>
        <p:spPr>
          <a:xfrm>
            <a:off x="3270000" y="1322725"/>
            <a:ext cx="5772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31F20"/>
              </a:buClr>
              <a:buSzPts val="1800"/>
              <a:buFont typeface="Arial"/>
              <a:buNone/>
            </a:pPr>
            <a:r>
              <a:rPr b="1" lang="en-IN" sz="1800">
                <a:solidFill>
                  <a:srgbClr val="231F20"/>
                </a:solidFill>
                <a:latin typeface="Arial"/>
                <a:ea typeface="Arial"/>
                <a:cs typeface="Arial"/>
                <a:sym typeface="Arial"/>
              </a:rPr>
              <a:t>Department of Computer Science &amp; Engineering</a:t>
            </a:r>
            <a:endParaRPr sz="1200">
              <a:solidFill>
                <a:schemeClr val="dk1"/>
              </a:solidFill>
              <a:latin typeface="Arial"/>
              <a:ea typeface="Arial"/>
              <a:cs typeface="Arial"/>
              <a:sym typeface="Arial"/>
            </a:endParaRPr>
          </a:p>
        </p:txBody>
      </p:sp>
      <p:cxnSp>
        <p:nvCxnSpPr>
          <p:cNvPr id="98" name="Google Shape;98;p13"/>
          <p:cNvCxnSpPr/>
          <p:nvPr/>
        </p:nvCxnSpPr>
        <p:spPr>
          <a:xfrm flipH="1" rot="10800000">
            <a:off x="1794290" y="1598343"/>
            <a:ext cx="8258400" cy="29100"/>
          </a:xfrm>
          <a:prstGeom prst="straightConnector1">
            <a:avLst/>
          </a:prstGeom>
          <a:noFill/>
          <a:ln cap="flat" cmpd="sng" w="9525">
            <a:solidFill>
              <a:schemeClr val="dk1"/>
            </a:solidFill>
            <a:prstDash val="solid"/>
            <a:miter lim="8000"/>
            <a:headEnd len="sm" w="sm" type="none"/>
            <a:tailEnd len="sm" w="sm" type="none"/>
          </a:ln>
        </p:spPr>
      </p:cxnSp>
      <p:sp>
        <p:nvSpPr>
          <p:cNvPr id="99" name="Google Shape;99;p13"/>
          <p:cNvSpPr txBox="1"/>
          <p:nvPr/>
        </p:nvSpPr>
        <p:spPr>
          <a:xfrm>
            <a:off x="3107678" y="5016500"/>
            <a:ext cx="6097500" cy="1188300"/>
          </a:xfrm>
          <a:prstGeom prst="rect">
            <a:avLst/>
          </a:prstGeom>
          <a:noFill/>
          <a:ln>
            <a:noFill/>
          </a:ln>
        </p:spPr>
        <p:txBody>
          <a:bodyPr anchorCtr="0" anchor="t" bIns="45700" lIns="91425"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Under the  Guidance of</a:t>
            </a:r>
            <a:br>
              <a:rPr b="1" lang="en-IN" sz="1600">
                <a:solidFill>
                  <a:schemeClr val="dk1"/>
                </a:solidFill>
                <a:latin typeface="Times New Roman"/>
                <a:ea typeface="Times New Roman"/>
                <a:cs typeface="Times New Roman"/>
                <a:sym typeface="Times New Roman"/>
              </a:rPr>
            </a:br>
            <a:r>
              <a:rPr b="1" lang="en-IN" sz="1600">
                <a:solidFill>
                  <a:schemeClr val="dk1"/>
                </a:solidFill>
                <a:latin typeface="Times New Roman"/>
                <a:ea typeface="Times New Roman"/>
                <a:cs typeface="Times New Roman"/>
                <a:sym typeface="Times New Roman"/>
              </a:rPr>
              <a:t> Dr. Salma Shahapur</a:t>
            </a:r>
            <a:endParaRPr b="1" sz="1600">
              <a:solidFill>
                <a:schemeClr val="dk1"/>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lang="en-IN" sz="1600">
                <a:solidFill>
                  <a:schemeClr val="dk1"/>
                </a:solidFill>
                <a:latin typeface="Times New Roman"/>
                <a:ea typeface="Times New Roman"/>
                <a:cs typeface="Times New Roman"/>
                <a:sym typeface="Times New Roman"/>
              </a:rPr>
              <a:t>Star Lab : C-ISHA</a:t>
            </a:r>
            <a:endParaRPr b="1" sz="16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1600">
              <a:solidFill>
                <a:schemeClr val="dk1"/>
              </a:solidFill>
              <a:latin typeface="Times New Roman"/>
              <a:ea typeface="Times New Roman"/>
              <a:cs typeface="Times New Roman"/>
              <a:sym typeface="Times New Roman"/>
            </a:endParaRPr>
          </a:p>
        </p:txBody>
      </p:sp>
      <p:graphicFrame>
        <p:nvGraphicFramePr>
          <p:cNvPr id="100" name="Google Shape;100;p13"/>
          <p:cNvGraphicFramePr/>
          <p:nvPr/>
        </p:nvGraphicFramePr>
        <p:xfrm>
          <a:off x="3702310" y="4401256"/>
          <a:ext cx="3000000" cy="3000000"/>
        </p:xfrm>
        <a:graphic>
          <a:graphicData uri="http://schemas.openxmlformats.org/drawingml/2006/table">
            <a:tbl>
              <a:tblPr bandRow="1" firstRow="1">
                <a:noFill/>
                <a:tableStyleId>{99D60F7E-B0EA-4F9F-817F-D0E32362845C}</a:tableStyleId>
              </a:tblPr>
              <a:tblGrid>
                <a:gridCol w="2407300"/>
                <a:gridCol w="2501000"/>
              </a:tblGrid>
              <a:tr h="370850">
                <a:tc>
                  <a:txBody>
                    <a:bodyPr/>
                    <a:lstStyle/>
                    <a:p>
                      <a:pPr indent="0" lvl="0" marL="0" marR="0" rtl="0" algn="ctr">
                        <a:spcBef>
                          <a:spcPts val="0"/>
                        </a:spcBef>
                        <a:spcAft>
                          <a:spcPts val="0"/>
                        </a:spcAft>
                        <a:buNone/>
                      </a:pPr>
                      <a:r>
                        <a:rPr lang="en-IN" sz="2000" u="none" cap="none" strike="noStrike">
                          <a:solidFill>
                            <a:schemeClr val="dk1"/>
                          </a:solidFill>
                          <a:latin typeface="Times New Roman"/>
                          <a:ea typeface="Times New Roman"/>
                          <a:cs typeface="Times New Roman"/>
                          <a:sym typeface="Times New Roman"/>
                        </a:rPr>
                        <a:t>Shashank Shetgeri </a:t>
                      </a:r>
                      <a:endParaRPr>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IN" sz="2000" u="none" cap="none" strike="noStrike">
                          <a:solidFill>
                            <a:schemeClr val="dk1"/>
                          </a:solidFill>
                          <a:latin typeface="Times New Roman"/>
                          <a:ea typeface="Times New Roman"/>
                          <a:cs typeface="Times New Roman"/>
                          <a:sym typeface="Times New Roman"/>
                        </a:rPr>
                        <a:t>02fe24bcs413</a:t>
                      </a:r>
                      <a:endParaRPr sz="20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01" name="Google Shape;101;p13"/>
          <p:cNvSpPr txBox="1"/>
          <p:nvPr/>
        </p:nvSpPr>
        <p:spPr>
          <a:xfrm>
            <a:off x="3046560" y="4056733"/>
            <a:ext cx="609887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N" sz="1800">
                <a:solidFill>
                  <a:schemeClr val="dk1"/>
                </a:solidFill>
                <a:latin typeface="Calibri"/>
                <a:ea typeface="Calibri"/>
                <a:cs typeface="Calibri"/>
                <a:sym typeface="Calibri"/>
              </a:rPr>
              <a:t>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 name="Google Shape;10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08" name="Google Shape;10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09" name="Google Shape;10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10" name="Google Shape;110;p14"/>
          <p:cNvSpPr txBox="1"/>
          <p:nvPr/>
        </p:nvSpPr>
        <p:spPr>
          <a:xfrm>
            <a:off x="1701800" y="-253182"/>
            <a:ext cx="8788400" cy="150966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Academic Background</a:t>
            </a:r>
            <a:endParaRPr/>
          </a:p>
        </p:txBody>
      </p:sp>
      <p:sp>
        <p:nvSpPr>
          <p:cNvPr id="111" name="Google Shape;111;p14"/>
          <p:cNvSpPr txBox="1"/>
          <p:nvPr/>
        </p:nvSpPr>
        <p:spPr>
          <a:xfrm>
            <a:off x="280834" y="955410"/>
            <a:ext cx="99208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1)CGPA in Each semester</a:t>
            </a:r>
            <a:endParaRPr/>
          </a:p>
        </p:txBody>
      </p:sp>
      <p:pic>
        <p:nvPicPr>
          <p:cNvPr descr="preencoded.png" id="112" name="Google Shape;112;p14"/>
          <p:cNvPicPr preferRelativeResize="0"/>
          <p:nvPr/>
        </p:nvPicPr>
        <p:blipFill rotWithShape="1">
          <a:blip r:embed="rId3">
            <a:alphaModFix/>
          </a:blip>
          <a:srcRect b="0" l="0" r="0" t="0"/>
          <a:stretch/>
        </p:blipFill>
        <p:spPr>
          <a:xfrm>
            <a:off x="9762744" y="282192"/>
            <a:ext cx="438912" cy="438912"/>
          </a:xfrm>
          <a:prstGeom prst="rect">
            <a:avLst/>
          </a:prstGeom>
          <a:noFill/>
          <a:ln>
            <a:noFill/>
          </a:ln>
        </p:spPr>
      </p:pic>
      <p:sp>
        <p:nvSpPr>
          <p:cNvPr id="113" name="Google Shape;113;p14"/>
          <p:cNvSpPr txBox="1"/>
          <p:nvPr/>
        </p:nvSpPr>
        <p:spPr>
          <a:xfrm>
            <a:off x="188844" y="3253693"/>
            <a:ext cx="61026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2400">
                <a:solidFill>
                  <a:schemeClr val="dk1"/>
                </a:solidFill>
                <a:latin typeface="Calibri"/>
                <a:ea typeface="Calibri"/>
                <a:cs typeface="Calibri"/>
                <a:sym typeface="Calibri"/>
              </a:rPr>
              <a:t>2) List of publications</a:t>
            </a:r>
            <a:endParaRPr/>
          </a:p>
        </p:txBody>
      </p:sp>
      <p:pic>
        <p:nvPicPr>
          <p:cNvPr id="114" name="Google Shape;114;p14"/>
          <p:cNvPicPr preferRelativeResize="0"/>
          <p:nvPr/>
        </p:nvPicPr>
        <p:blipFill rotWithShape="1">
          <a:blip r:embed="rId4">
            <a:alphaModFix/>
          </a:blip>
          <a:srcRect b="0" l="0" r="0" t="0"/>
          <a:stretch/>
        </p:blipFill>
        <p:spPr>
          <a:xfrm>
            <a:off x="280834" y="3805909"/>
            <a:ext cx="10478280" cy="2484462"/>
          </a:xfrm>
          <a:prstGeom prst="rect">
            <a:avLst/>
          </a:prstGeom>
          <a:noFill/>
          <a:ln>
            <a:noFill/>
          </a:ln>
        </p:spPr>
      </p:pic>
      <p:graphicFrame>
        <p:nvGraphicFramePr>
          <p:cNvPr id="115" name="Google Shape;115;p14"/>
          <p:cNvGraphicFramePr/>
          <p:nvPr/>
        </p:nvGraphicFramePr>
        <p:xfrm>
          <a:off x="376475" y="1606400"/>
          <a:ext cx="3000000" cy="3000000"/>
        </p:xfrm>
        <a:graphic>
          <a:graphicData uri="http://schemas.openxmlformats.org/drawingml/2006/table">
            <a:tbl>
              <a:tblPr>
                <a:noFill/>
                <a:tableStyleId>{5BF988E1-8761-42A7-9806-C56E7F85130F}</a:tableStyleId>
              </a:tblPr>
              <a:tblGrid>
                <a:gridCol w="2057400"/>
                <a:gridCol w="2057400"/>
                <a:gridCol w="2057400"/>
                <a:gridCol w="2057400"/>
                <a:gridCol w="2057400"/>
              </a:tblGrid>
              <a:tr h="381000">
                <a:tc>
                  <a:txBody>
                    <a:bodyPr/>
                    <a:lstStyle/>
                    <a:p>
                      <a:pPr indent="0" lvl="0" marL="0" rtl="0" algn="l">
                        <a:lnSpc>
                          <a:spcPct val="115000"/>
                        </a:lnSpc>
                        <a:spcBef>
                          <a:spcPts val="0"/>
                        </a:spcBef>
                        <a:spcAft>
                          <a:spcPts val="0"/>
                        </a:spcAft>
                        <a:buNone/>
                      </a:pPr>
                      <a:r>
                        <a:rPr b="1" lang="en-IN" sz="1800">
                          <a:solidFill>
                            <a:schemeClr val="dk1"/>
                          </a:solidFill>
                          <a:latin typeface="Calibri"/>
                          <a:ea typeface="Calibri"/>
                          <a:cs typeface="Calibri"/>
                          <a:sym typeface="Calibri"/>
                        </a:rPr>
                        <a:t>Semester</a:t>
                      </a:r>
                      <a:endParaRPr b="1"/>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3</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4</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5</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6</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l">
                        <a:lnSpc>
                          <a:spcPct val="115000"/>
                        </a:lnSpc>
                        <a:spcBef>
                          <a:spcPts val="0"/>
                        </a:spcBef>
                        <a:spcAft>
                          <a:spcPts val="0"/>
                        </a:spcAft>
                        <a:buClr>
                          <a:schemeClr val="dk1"/>
                        </a:buClr>
                        <a:buSzPts val="1100"/>
                        <a:buFont typeface="Arial"/>
                        <a:buNone/>
                      </a:pPr>
                      <a:r>
                        <a:rPr b="1" lang="en-IN" sz="1800">
                          <a:solidFill>
                            <a:schemeClr val="dk1"/>
                          </a:solidFill>
                          <a:latin typeface="Calibri"/>
                          <a:ea typeface="Calibri"/>
                          <a:cs typeface="Calibri"/>
                          <a:sym typeface="Calibri"/>
                        </a:rPr>
                        <a:t>Cumulative CGPA</a:t>
                      </a:r>
                      <a:endParaRPr b="1" sz="1800">
                        <a:solidFill>
                          <a:schemeClr val="dk1"/>
                        </a:solidFill>
                        <a:latin typeface="Calibri"/>
                        <a:ea typeface="Calibri"/>
                        <a:cs typeface="Calibri"/>
                        <a:sym typeface="Calibri"/>
                      </a:endParaRPr>
                    </a:p>
                    <a:p>
                      <a:pPr indent="0" lvl="0" marL="0" rtl="0" algn="l">
                        <a:spcBef>
                          <a:spcPts val="0"/>
                        </a:spcBef>
                        <a:spcAft>
                          <a:spcPts val="0"/>
                        </a:spcAft>
                        <a:buNone/>
                      </a:pPr>
                      <a:r>
                        <a:t/>
                      </a:r>
                      <a:endParaRPr b="1"/>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7.1</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7.45</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7.55</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t>7.85</a:t>
                      </a:r>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15"/>
          <p:cNvSpPr txBox="1"/>
          <p:nvPr>
            <p:ph idx="10" type="dt"/>
          </p:nvPr>
        </p:nvSpPr>
        <p:spPr>
          <a:xfrm>
            <a:off x="838200" y="64511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22" name="Google Shape;122;p15"/>
          <p:cNvSpPr txBox="1"/>
          <p:nvPr>
            <p:ph idx="11" type="ftr"/>
          </p:nvPr>
        </p:nvSpPr>
        <p:spPr>
          <a:xfrm>
            <a:off x="4038600" y="6446837"/>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23" name="Google Shape;123;p15"/>
          <p:cNvSpPr txBox="1"/>
          <p:nvPr>
            <p:ph idx="12" type="sldNum"/>
          </p:nvPr>
        </p:nvSpPr>
        <p:spPr>
          <a:xfrm>
            <a:off x="8610600" y="6422455"/>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24" name="Google Shape;124;p15"/>
          <p:cNvSpPr txBox="1"/>
          <p:nvPr>
            <p:ph type="title"/>
          </p:nvPr>
        </p:nvSpPr>
        <p:spPr>
          <a:xfrm>
            <a:off x="1504804" y="5"/>
            <a:ext cx="9182400" cy="1179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IN">
                <a:latin typeface="Times New Roman"/>
                <a:ea typeface="Times New Roman"/>
                <a:cs typeface="Times New Roman"/>
                <a:sym typeface="Times New Roman"/>
              </a:rPr>
              <a:t> Introduction</a:t>
            </a:r>
            <a:endParaRPr/>
          </a:p>
        </p:txBody>
      </p:sp>
      <p:sp>
        <p:nvSpPr>
          <p:cNvPr id="125" name="Google Shape;125;p15"/>
          <p:cNvSpPr txBox="1"/>
          <p:nvPr/>
        </p:nvSpPr>
        <p:spPr>
          <a:xfrm>
            <a:off x="258417" y="798897"/>
            <a:ext cx="11658600" cy="56337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IN" sz="2400">
                <a:solidFill>
                  <a:schemeClr val="dk1"/>
                </a:solidFill>
                <a:latin typeface="Times New Roman"/>
                <a:ea typeface="Times New Roman"/>
                <a:cs typeface="Times New Roman"/>
                <a:sym typeface="Times New Roman"/>
              </a:rPr>
              <a:t>Introduction</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sz="2400">
                <a:solidFill>
                  <a:schemeClr val="dk1"/>
                </a:solidFill>
                <a:latin typeface="Times New Roman"/>
                <a:ea typeface="Times New Roman"/>
                <a:cs typeface="Times New Roman"/>
                <a:sym typeface="Times New Roman"/>
              </a:rPr>
              <a:t>Surgical suturing is a critical step in wound closure, where the quality of each stitch directly affects healing and patient safety. Manual assessment of suture quality can be subjective and time-consuming. This project presents an AI-powered framework that analyzes surgical images to automatically evaluate suture quality using multiple parameters, providing consistent and objective feedback to assist surgeons and improve surgical outcomes.</a:t>
            </a:r>
            <a:endParaRPr>
              <a:latin typeface="Times New Roman"/>
              <a:ea typeface="Times New Roman"/>
              <a:cs typeface="Times New Roman"/>
              <a:sym typeface="Times New Roman"/>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b="1" lang="en-IN" sz="2400">
                <a:solidFill>
                  <a:schemeClr val="dk1"/>
                </a:solidFill>
                <a:latin typeface="Times New Roman"/>
                <a:ea typeface="Times New Roman"/>
                <a:cs typeface="Times New Roman"/>
                <a:sym typeface="Times New Roman"/>
              </a:rPr>
              <a:t>Motivation</a:t>
            </a:r>
            <a:endParaRPr sz="24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IN" sz="2400">
                <a:solidFill>
                  <a:schemeClr val="dk1"/>
                </a:solidFill>
                <a:latin typeface="Times New Roman"/>
                <a:ea typeface="Times New Roman"/>
                <a:cs typeface="Times New Roman"/>
                <a:sym typeface="Times New Roman"/>
              </a:rPr>
              <a:t>Accurate suture evaluation is essential for successful wound healing, but manual inspection can be subjective and inconsistent. The motivation behind this project is to develop an AI-based solution that provides fast, reliable, and objective assessment of suture quality. By automating the evaluation process, the system aims to support surgeons in improving surgical precision, reducing errors, and enhancing patient outcomes.</a:t>
            </a:r>
            <a:endParaRPr>
              <a:latin typeface="Times New Roman"/>
              <a:ea typeface="Times New Roman"/>
              <a:cs typeface="Times New Roman"/>
              <a:sym typeface="Times New Roman"/>
            </a:endParaRPr>
          </a:p>
          <a:p>
            <a:pPr indent="0" lvl="0" marL="0" marR="0" rtl="0" algn="just">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26" name="Google Shape;126;p15"/>
          <p:cNvSpPr txBox="1"/>
          <p:nvPr/>
        </p:nvSpPr>
        <p:spPr>
          <a:xfrm>
            <a:off x="7967925" y="4620875"/>
            <a:ext cx="425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6"/>
          <p:cNvSpPr txBox="1"/>
          <p:nvPr>
            <p:ph idx="10" type="dt"/>
          </p:nvPr>
        </p:nvSpPr>
        <p:spPr>
          <a:xfrm>
            <a:off x="846826" y="644683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22-07-2026</a:t>
            </a:r>
            <a:endParaRPr>
              <a:solidFill>
                <a:schemeClr val="lt1"/>
              </a:solidFill>
            </a:endParaRPr>
          </a:p>
        </p:txBody>
      </p:sp>
      <p:sp>
        <p:nvSpPr>
          <p:cNvPr id="133" name="Google Shape;133;p16"/>
          <p:cNvSpPr txBox="1"/>
          <p:nvPr>
            <p:ph idx="11" type="ftr"/>
          </p:nvPr>
        </p:nvSpPr>
        <p:spPr>
          <a:xfrm>
            <a:off x="4047226" y="6446837"/>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34" name="Google Shape;134;p16"/>
          <p:cNvSpPr txBox="1"/>
          <p:nvPr>
            <p:ph idx="12" type="sldNum"/>
          </p:nvPr>
        </p:nvSpPr>
        <p:spPr>
          <a:xfrm>
            <a:off x="8627852" y="6446837"/>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35" name="Google Shape;135;p16"/>
          <p:cNvSpPr txBox="1"/>
          <p:nvPr/>
        </p:nvSpPr>
        <p:spPr>
          <a:xfrm>
            <a:off x="4047226" y="0"/>
            <a:ext cx="4519283" cy="1509661"/>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Literature survey 	</a:t>
            </a:r>
            <a:endParaRPr/>
          </a:p>
        </p:txBody>
      </p:sp>
      <p:graphicFrame>
        <p:nvGraphicFramePr>
          <p:cNvPr id="136" name="Google Shape;136;p16"/>
          <p:cNvGraphicFramePr/>
          <p:nvPr/>
        </p:nvGraphicFramePr>
        <p:xfrm>
          <a:off x="0" y="1150175"/>
          <a:ext cx="3000000" cy="3000000"/>
        </p:xfrm>
        <a:graphic>
          <a:graphicData uri="http://schemas.openxmlformats.org/drawingml/2006/table">
            <a:tbl>
              <a:tblPr>
                <a:noFill/>
                <a:tableStyleId>{5BF988E1-8761-42A7-9806-C56E7F85130F}</a:tableStyleId>
              </a:tblPr>
              <a:tblGrid>
                <a:gridCol w="2408925"/>
                <a:gridCol w="2437675"/>
                <a:gridCol w="2423300"/>
                <a:gridCol w="2423300"/>
                <a:gridCol w="2423300"/>
              </a:tblGrid>
              <a:tr h="1236625">
                <a:tc>
                  <a:txBody>
                    <a:bodyPr/>
                    <a:lstStyle/>
                    <a:p>
                      <a:pPr indent="0" lvl="0" marL="0" rtl="0" algn="ctr">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Paper Title</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Year and other details of paper</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Methodology</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Datase</a:t>
                      </a:r>
                      <a:r>
                        <a:rPr b="1" lang="en-IN" sz="1800" u="sng">
                          <a:solidFill>
                            <a:schemeClr val="dk1"/>
                          </a:solidFill>
                          <a:latin typeface="Times New Roman"/>
                          <a:ea typeface="Times New Roman"/>
                          <a:cs typeface="Times New Roman"/>
                          <a:sym typeface="Times New Roman"/>
                        </a:rPr>
                        <a:t>t</a:t>
                      </a:r>
                      <a:endParaRPr b="1" sz="1800" u="sng">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IN" sz="1800">
                          <a:solidFill>
                            <a:schemeClr val="dk1"/>
                          </a:solidFill>
                          <a:latin typeface="Times New Roman"/>
                          <a:ea typeface="Times New Roman"/>
                          <a:cs typeface="Times New Roman"/>
                          <a:sym typeface="Times New Roman"/>
                        </a:rPr>
                        <a:t>Gaps Identified</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189200">
                <a:tc>
                  <a:txBody>
                    <a:bodyPr/>
                    <a:lstStyle/>
                    <a:p>
                      <a:pPr indent="0" lvl="0" marL="0" rtl="0" algn="l">
                        <a:spcBef>
                          <a:spcPts val="0"/>
                        </a:spcBef>
                        <a:spcAft>
                          <a:spcPts val="0"/>
                        </a:spcAft>
                        <a:buNone/>
                      </a:pPr>
                      <a:r>
                        <a:rPr lang="en-IN">
                          <a:solidFill>
                            <a:schemeClr val="dk1"/>
                          </a:solidFill>
                          <a:latin typeface="Times New Roman"/>
                          <a:ea typeface="Times New Roman"/>
                          <a:cs typeface="Times New Roman"/>
                          <a:sym typeface="Times New Roman"/>
                        </a:rPr>
                        <a:t>Improving Microsurgical Suture Training with Automated Phase Recognition and Skill Assessment via Deep Learning </a:t>
                      </a:r>
                      <a:endParaRPr sz="16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2025</a:t>
                      </a:r>
                      <a:r>
                        <a:rPr lang="en-IN" sz="1500">
                          <a:solidFill>
                            <a:schemeClr val="dk1"/>
                          </a:solidFill>
                          <a:latin typeface="Times New Roman"/>
                          <a:ea typeface="Times New Roman"/>
                          <a:cs typeface="Times New Roman"/>
                          <a:sym typeface="Times New Roman"/>
                        </a:rPr>
                        <a:t>, Elsevier (Computers in Biology and Medicine)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Modified LRCN (CNN + LSTM) for phase recognition and skill assessment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Microsurgical suturing videos (11 surgeons: novice &amp; expert)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Difficult to classify overlapping phases; limited number of surgeons.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18920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From Precision to Strength: Computer Vision for Suture Quality Assessment—An Ex Vivo Pilot Study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2025</a:t>
                      </a:r>
                      <a:r>
                        <a:rPr lang="en-IN" sz="1500">
                          <a:solidFill>
                            <a:schemeClr val="dk1"/>
                          </a:solidFill>
                          <a:latin typeface="Times New Roman"/>
                          <a:ea typeface="Times New Roman"/>
                          <a:cs typeface="Times New Roman"/>
                          <a:sym typeface="Times New Roman"/>
                        </a:rPr>
                        <a:t>, Surgical Endoscopy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Computer vision + XGBoost to assess suture quality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600">
                          <a:latin typeface="Times New Roman"/>
                          <a:ea typeface="Times New Roman"/>
                          <a:cs typeface="Times New Roman"/>
                          <a:sym typeface="Times New Roman"/>
                        </a:rPr>
                        <a:t>Ex-vivo porcine rectal suturing dataset </a:t>
                      </a:r>
                      <a:endParaRPr sz="16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Spatial features alone are not enough; poor prediction accuracy.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36825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An Automated Skill Assessment Framework Based on Visual Motion Signals and a Deep Neural Network in Robot-Assisted Minimally Invasive Surgery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2023</a:t>
                      </a:r>
                      <a:r>
                        <a:rPr lang="en-IN" sz="1500">
                          <a:solidFill>
                            <a:schemeClr val="dk1"/>
                          </a:solidFill>
                          <a:latin typeface="Times New Roman"/>
                          <a:ea typeface="Times New Roman"/>
                          <a:cs typeface="Times New Roman"/>
                          <a:sym typeface="Times New Roman"/>
                        </a:rPr>
                        <a:t>, MDPI Sensors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KCF tracking + ResNet for automatic skill assessment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JIGSAWS dataset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Tested mainly on JIGSAWS; limited real-world validation.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7"/>
          <p:cNvSpPr txBox="1"/>
          <p:nvPr>
            <p:ph idx="10" type="dt"/>
          </p:nvPr>
        </p:nvSpPr>
        <p:spPr>
          <a:xfrm>
            <a:off x="846826" y="6446836"/>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22-07-2026</a:t>
            </a:r>
            <a:endParaRPr>
              <a:solidFill>
                <a:schemeClr val="lt1"/>
              </a:solidFill>
            </a:endParaRPr>
          </a:p>
        </p:txBody>
      </p:sp>
      <p:sp>
        <p:nvSpPr>
          <p:cNvPr id="143" name="Google Shape;143;p17"/>
          <p:cNvSpPr txBox="1"/>
          <p:nvPr>
            <p:ph idx="11" type="ftr"/>
          </p:nvPr>
        </p:nvSpPr>
        <p:spPr>
          <a:xfrm>
            <a:off x="4047226" y="6446837"/>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44" name="Google Shape;144;p17"/>
          <p:cNvSpPr txBox="1"/>
          <p:nvPr>
            <p:ph idx="12" type="sldNum"/>
          </p:nvPr>
        </p:nvSpPr>
        <p:spPr>
          <a:xfrm>
            <a:off x="8627852" y="6446837"/>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45" name="Google Shape;145;p17"/>
          <p:cNvSpPr txBox="1"/>
          <p:nvPr/>
        </p:nvSpPr>
        <p:spPr>
          <a:xfrm>
            <a:off x="4047226" y="0"/>
            <a:ext cx="4519200" cy="15096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Times New Roman"/>
              <a:buNone/>
            </a:pPr>
            <a:r>
              <a:rPr lang="en-IN" sz="4400">
                <a:solidFill>
                  <a:schemeClr val="dk1"/>
                </a:solidFill>
                <a:latin typeface="Times New Roman"/>
                <a:ea typeface="Times New Roman"/>
                <a:cs typeface="Times New Roman"/>
                <a:sym typeface="Times New Roman"/>
              </a:rPr>
              <a:t>Literature survey 	</a:t>
            </a:r>
            <a:endParaRPr/>
          </a:p>
        </p:txBody>
      </p:sp>
      <p:graphicFrame>
        <p:nvGraphicFramePr>
          <p:cNvPr id="146" name="Google Shape;146;p17"/>
          <p:cNvGraphicFramePr/>
          <p:nvPr/>
        </p:nvGraphicFramePr>
        <p:xfrm>
          <a:off x="0" y="1150175"/>
          <a:ext cx="3000000" cy="3000000"/>
        </p:xfrm>
        <a:graphic>
          <a:graphicData uri="http://schemas.openxmlformats.org/drawingml/2006/table">
            <a:tbl>
              <a:tblPr>
                <a:noFill/>
                <a:tableStyleId>{5BF988E1-8761-42A7-9806-C56E7F85130F}</a:tableStyleId>
              </a:tblPr>
              <a:tblGrid>
                <a:gridCol w="2423300"/>
                <a:gridCol w="2423300"/>
                <a:gridCol w="2423300"/>
                <a:gridCol w="2423300"/>
                <a:gridCol w="2423300"/>
              </a:tblGrid>
              <a:tr h="897725">
                <a:tc>
                  <a:txBody>
                    <a:bodyPr/>
                    <a:lstStyle/>
                    <a:p>
                      <a:pPr indent="0" lvl="0" marL="0" rtl="0" algn="ctr">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Paper Title</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Year and other details of paper</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Methodology</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Datase</a:t>
                      </a:r>
                      <a:r>
                        <a:rPr b="1" lang="en-IN" sz="1800" u="sng">
                          <a:solidFill>
                            <a:schemeClr val="dk1"/>
                          </a:solidFill>
                          <a:latin typeface="Times New Roman"/>
                          <a:ea typeface="Times New Roman"/>
                          <a:cs typeface="Times New Roman"/>
                          <a:sym typeface="Times New Roman"/>
                        </a:rPr>
                        <a:t>t</a:t>
                      </a:r>
                      <a:endParaRPr b="1" sz="1800" u="sng">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IN" sz="1800">
                          <a:solidFill>
                            <a:schemeClr val="dk1"/>
                          </a:solidFill>
                          <a:latin typeface="Times New Roman"/>
                          <a:ea typeface="Times New Roman"/>
                          <a:cs typeface="Times New Roman"/>
                          <a:sym typeface="Times New Roman"/>
                        </a:rPr>
                        <a:t>Gaps Identified</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18920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Evaluation of Objective Tools and Artificial Intelligence in Robotic Surgery Technical Skills Assessment: A Systematic Review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2024</a:t>
                      </a:r>
                      <a:r>
                        <a:rPr lang="en-IN" sz="1500">
                          <a:solidFill>
                            <a:schemeClr val="dk1"/>
                          </a:solidFill>
                          <a:latin typeface="Times New Roman"/>
                          <a:ea typeface="Times New Roman"/>
                          <a:cs typeface="Times New Roman"/>
                          <a:sym typeface="Times New Roman"/>
                        </a:rPr>
                        <a:t>, British Journal of Surgery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Systematic review of AI and objective assessment tools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solidFill>
                            <a:schemeClr val="dk1"/>
                          </a:solidFill>
                          <a:latin typeface="Times New Roman"/>
                          <a:ea typeface="Times New Roman"/>
                          <a:cs typeface="Times New Roman"/>
                          <a:sym typeface="Times New Roman"/>
                        </a:rPr>
                        <a:t>Review of </a:t>
                      </a:r>
                      <a:r>
                        <a:rPr b="1" lang="en-IN" sz="1500">
                          <a:solidFill>
                            <a:schemeClr val="dk1"/>
                          </a:solidFill>
                          <a:latin typeface="Times New Roman"/>
                          <a:ea typeface="Times New Roman"/>
                          <a:cs typeface="Times New Roman"/>
                          <a:sym typeface="Times New Roman"/>
                        </a:rPr>
                        <a:t>247 published studies</a:t>
                      </a:r>
                      <a:r>
                        <a:rPr lang="en-IN" sz="1500">
                          <a:solidFill>
                            <a:schemeClr val="dk1"/>
                          </a:solidFill>
                          <a:latin typeface="Times New Roman"/>
                          <a:ea typeface="Times New Roman"/>
                          <a:cs typeface="Times New Roman"/>
                          <a:sym typeface="Times New Roman"/>
                        </a:rPr>
                        <a:t>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Most AI tools are not clinically validated for routine use.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18920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Competency Assessment Tool for Laparoscopic Suturing: Development and Reliability Evaluation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2020</a:t>
                      </a:r>
                      <a:r>
                        <a:rPr lang="en-IN" sz="1500">
                          <a:solidFill>
                            <a:schemeClr val="dk1"/>
                          </a:solidFill>
                          <a:latin typeface="Times New Roman"/>
                          <a:ea typeface="Times New Roman"/>
                          <a:cs typeface="Times New Roman"/>
                          <a:sym typeface="Times New Roman"/>
                        </a:rPr>
                        <a:t>, Surgical Endoscopy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Developed LS-CAT scoring tool using expert evaluation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Simulated laparoscopic suturing videos (36 performances)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Requires expert scoring; tested only in simulation.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1368250">
                <a:tc>
                  <a:txBody>
                    <a:bodyPr/>
                    <a:lstStyle/>
                    <a:p>
                      <a:pPr indent="0" lvl="0" marL="0" rtl="0" algn="l">
                        <a:spcBef>
                          <a:spcPts val="0"/>
                        </a:spcBef>
                        <a:spcAft>
                          <a:spcPts val="0"/>
                        </a:spcAft>
                        <a:buNone/>
                      </a:pPr>
                      <a:r>
                        <a:rPr lang="en-IN">
                          <a:latin typeface="Times New Roman"/>
                          <a:ea typeface="Times New Roman"/>
                          <a:cs typeface="Times New Roman"/>
                          <a:sym typeface="Times New Roman"/>
                        </a:rPr>
                        <a:t>Objective Assessment of Surgical Technical Skill and Competency in the Operating Room </a:t>
                      </a:r>
                      <a:endParaRPr>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IN" sz="1500">
                          <a:solidFill>
                            <a:schemeClr val="dk1"/>
                          </a:solidFill>
                          <a:latin typeface="Times New Roman"/>
                          <a:ea typeface="Times New Roman"/>
                          <a:cs typeface="Times New Roman"/>
                          <a:sym typeface="Times New Roman"/>
                        </a:rPr>
                        <a:t>2017</a:t>
                      </a:r>
                      <a:r>
                        <a:rPr lang="en-IN" sz="1500">
                          <a:solidFill>
                            <a:schemeClr val="dk1"/>
                          </a:solidFill>
                          <a:latin typeface="Times New Roman"/>
                          <a:ea typeface="Times New Roman"/>
                          <a:cs typeface="Times New Roman"/>
                          <a:sym typeface="Times New Roman"/>
                        </a:rPr>
                        <a:t>, Annual Review of Biomedical Engineering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Review of computer-aided surgical skill assessment methods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solidFill>
                            <a:schemeClr val="dk1"/>
                          </a:solidFill>
                          <a:latin typeface="Times New Roman"/>
                          <a:ea typeface="Times New Roman"/>
                          <a:cs typeface="Times New Roman"/>
                          <a:sym typeface="Times New Roman"/>
                        </a:rPr>
                        <a:t>Review of </a:t>
                      </a:r>
                      <a:r>
                        <a:rPr b="1" lang="en-IN" sz="1500">
                          <a:solidFill>
                            <a:schemeClr val="dk1"/>
                          </a:solidFill>
                          <a:latin typeface="Times New Roman"/>
                          <a:ea typeface="Times New Roman"/>
                          <a:cs typeface="Times New Roman"/>
                          <a:sym typeface="Times New Roman"/>
                        </a:rPr>
                        <a:t>45 research papers</a:t>
                      </a:r>
                      <a:r>
                        <a:rPr lang="en-IN" sz="1500">
                          <a:solidFill>
                            <a:schemeClr val="dk1"/>
                          </a:solidFill>
                          <a:latin typeface="Times New Roman"/>
                          <a:ea typeface="Times New Roman"/>
                          <a:cs typeface="Times New Roman"/>
                          <a:sym typeface="Times New Roman"/>
                        </a:rPr>
                        <a:t>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IN" sz="1500">
                          <a:latin typeface="Times New Roman"/>
                          <a:ea typeface="Times New Roman"/>
                          <a:cs typeface="Times New Roman"/>
                          <a:sym typeface="Times New Roman"/>
                        </a:rPr>
                        <a:t>Lack of standard methods and limited operating-room validation. </a:t>
                      </a:r>
                      <a:endParaRPr sz="1500">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53" name="Google Shape;15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54" name="Google Shape;15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55" name="Google Shape;155;p18"/>
          <p:cNvSpPr txBox="1"/>
          <p:nvPr/>
        </p:nvSpPr>
        <p:spPr>
          <a:xfrm>
            <a:off x="1848052" y="-197166"/>
            <a:ext cx="8720488" cy="1509661"/>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Research problem and Objectives</a:t>
            </a:r>
            <a:endParaRPr/>
          </a:p>
        </p:txBody>
      </p:sp>
      <p:sp>
        <p:nvSpPr>
          <p:cNvPr id="156" name="Google Shape;156;p18"/>
          <p:cNvSpPr txBox="1"/>
          <p:nvPr/>
        </p:nvSpPr>
        <p:spPr>
          <a:xfrm>
            <a:off x="238539" y="1105287"/>
            <a:ext cx="11549400" cy="464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Calibri"/>
              <a:buNone/>
            </a:pPr>
            <a:r>
              <a:rPr b="1" lang="en-IN" sz="3200">
                <a:solidFill>
                  <a:schemeClr val="dk1"/>
                </a:solidFill>
                <a:latin typeface="Times New Roman"/>
                <a:ea typeface="Times New Roman"/>
                <a:cs typeface="Times New Roman"/>
                <a:sym typeface="Times New Roman"/>
              </a:rPr>
              <a:t>Research Problem</a:t>
            </a:r>
            <a:endParaRPr>
              <a:latin typeface="Times New Roman"/>
              <a:ea typeface="Times New Roman"/>
              <a:cs typeface="Times New Roman"/>
              <a:sym typeface="Times New Roman"/>
            </a:endParaRPr>
          </a:p>
          <a:p>
            <a:pPr indent="0" lvl="0" marL="0" marR="0" rtl="0" algn="l">
              <a:spcBef>
                <a:spcPts val="0"/>
              </a:spcBef>
              <a:spcAft>
                <a:spcPts val="0"/>
              </a:spcAft>
              <a:buClr>
                <a:schemeClr val="dk1"/>
              </a:buClr>
              <a:buSzPts val="2000"/>
              <a:buFont typeface="Calibri"/>
              <a:buNone/>
            </a:pPr>
            <a:r>
              <a:rPr lang="en-IN" sz="2000">
                <a:solidFill>
                  <a:schemeClr val="dk1"/>
                </a:solidFill>
                <a:latin typeface="Times New Roman"/>
                <a:ea typeface="Times New Roman"/>
                <a:cs typeface="Times New Roman"/>
                <a:sym typeface="Times New Roman"/>
              </a:rPr>
              <a:t>Surgical suturing assessment remains subjective and inconsistent trainees rely on scarce expert feedback, limiting practice opportunities. AI could help, but existing approaches fail: they train on tiny datasets, offer no explanations for their scores, and lack real-world validation. Without a trustworthy, explainable AI framework, medical students cannot get the consistent, frequent feedback they need to master this essential skill.</a:t>
            </a:r>
            <a:endParaRPr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Calibri"/>
              <a:buNone/>
            </a:pPr>
            <a:r>
              <a:t/>
            </a:r>
            <a:endParaRPr b="1" sz="3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3200"/>
              <a:buFont typeface="Calibri"/>
              <a:buNone/>
            </a:pPr>
            <a:r>
              <a:rPr b="1" lang="en-IN" sz="3200">
                <a:solidFill>
                  <a:schemeClr val="dk1"/>
                </a:solidFill>
                <a:latin typeface="Times New Roman"/>
                <a:ea typeface="Times New Roman"/>
                <a:cs typeface="Times New Roman"/>
                <a:sym typeface="Times New Roman"/>
              </a:rPr>
              <a:t>Objectives</a:t>
            </a:r>
            <a:endParaRPr>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000"/>
              <a:buFont typeface="Times New Roman"/>
              <a:buAutoNum type="arabicParenR"/>
            </a:pPr>
            <a:r>
              <a:rPr lang="en-IN" sz="2000">
                <a:solidFill>
                  <a:schemeClr val="dk1"/>
                </a:solidFill>
                <a:latin typeface="Times New Roman"/>
                <a:ea typeface="Times New Roman"/>
                <a:cs typeface="Times New Roman"/>
                <a:sym typeface="Times New Roman"/>
              </a:rPr>
              <a:t>Extract quality images from raw 4K surgical training images using an adaptive, quality-aware frame extraction pipeline.</a:t>
            </a:r>
            <a:endParaRPr>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000"/>
              <a:buFont typeface="Times New Roman"/>
              <a:buAutoNum type="arabicParenR"/>
            </a:pPr>
            <a:r>
              <a:rPr lang="en-IN" sz="2000">
                <a:solidFill>
                  <a:schemeClr val="dk1"/>
                </a:solidFill>
                <a:latin typeface="Times New Roman"/>
                <a:ea typeface="Times New Roman"/>
                <a:cs typeface="Times New Roman"/>
                <a:sym typeface="Times New Roman"/>
              </a:rPr>
              <a:t>Build a multi-metric AI model that scores sutures across 6 quality dimensions ( ISD, Slack, Position, Angulation, Width) from a single image.</a:t>
            </a:r>
            <a:endParaRPr>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000"/>
              <a:buFont typeface="Times New Roman"/>
              <a:buAutoNum type="arabicParenR"/>
            </a:pPr>
            <a:r>
              <a:rPr lang="en-IN" sz="2000">
                <a:solidFill>
                  <a:schemeClr val="dk1"/>
                </a:solidFill>
                <a:latin typeface="Times New Roman"/>
                <a:ea typeface="Times New Roman"/>
                <a:cs typeface="Times New Roman"/>
                <a:sym typeface="Times New Roman"/>
              </a:rPr>
              <a:t>Quantify prediction uncertainty so surgeons know when to trust the AI and when to override it.</a:t>
            </a:r>
            <a:endParaRPr>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000"/>
              <a:buFont typeface="Times New Roman"/>
              <a:buAutoNum type="arabicParenR"/>
            </a:pPr>
            <a:r>
              <a:rPr lang="en-IN" sz="2000">
                <a:solidFill>
                  <a:schemeClr val="dk1"/>
                </a:solidFill>
                <a:latin typeface="Times New Roman"/>
                <a:ea typeface="Times New Roman"/>
                <a:cs typeface="Times New Roman"/>
                <a:sym typeface="Times New Roman"/>
              </a:rPr>
              <a:t>Explain every score with visual heatmaps showing what drove each metric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9"/>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63" name="Google Shape;1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64" name="Google Shape;1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65" name="Google Shape;165;p19"/>
          <p:cNvSpPr txBox="1"/>
          <p:nvPr/>
        </p:nvSpPr>
        <p:spPr>
          <a:xfrm>
            <a:off x="4563613" y="-201423"/>
            <a:ext cx="3589787" cy="1509661"/>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Tool learning</a:t>
            </a:r>
            <a:endParaRPr/>
          </a:p>
        </p:txBody>
      </p:sp>
      <p:sp>
        <p:nvSpPr>
          <p:cNvPr id="166" name="Google Shape;166;p19"/>
          <p:cNvSpPr txBox="1"/>
          <p:nvPr/>
        </p:nvSpPr>
        <p:spPr>
          <a:xfrm>
            <a:off x="209195" y="1069658"/>
            <a:ext cx="10892700" cy="267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N" sz="2800">
                <a:solidFill>
                  <a:schemeClr val="dk1"/>
                </a:solidFill>
                <a:latin typeface="Times New Roman"/>
                <a:ea typeface="Times New Roman"/>
                <a:cs typeface="Times New Roman"/>
                <a:sym typeface="Times New Roman"/>
              </a:rPr>
              <a:t>Tools &amp; Platforms</a:t>
            </a:r>
            <a:endParaRPr>
              <a:latin typeface="Times New Roman"/>
              <a:ea typeface="Times New Roman"/>
              <a:cs typeface="Times New Roman"/>
              <a:sym typeface="Times New Roman"/>
            </a:endParaRPr>
          </a:p>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1)</a:t>
            </a:r>
            <a:r>
              <a:rPr b="1" lang="en-IN" sz="2800">
                <a:solidFill>
                  <a:schemeClr val="dk1"/>
                </a:solidFill>
                <a:latin typeface="Times New Roman"/>
                <a:ea typeface="Times New Roman"/>
                <a:cs typeface="Times New Roman"/>
                <a:sym typeface="Times New Roman"/>
              </a:rPr>
              <a:t>Language: </a:t>
            </a:r>
            <a:r>
              <a:rPr lang="en-IN" sz="2800">
                <a:solidFill>
                  <a:schemeClr val="dk1"/>
                </a:solidFill>
                <a:latin typeface="Times New Roman"/>
                <a:ea typeface="Times New Roman"/>
                <a:cs typeface="Times New Roman"/>
                <a:sym typeface="Times New Roman"/>
              </a:rPr>
              <a:t>Python 3.11+</a:t>
            </a:r>
            <a:endParaRPr>
              <a:latin typeface="Times New Roman"/>
              <a:ea typeface="Times New Roman"/>
              <a:cs typeface="Times New Roman"/>
              <a:sym typeface="Times New Roman"/>
            </a:endParaRPr>
          </a:p>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2)</a:t>
            </a:r>
            <a:r>
              <a:rPr b="1" lang="en-IN" sz="2800">
                <a:solidFill>
                  <a:schemeClr val="dk1"/>
                </a:solidFill>
                <a:latin typeface="Times New Roman"/>
                <a:ea typeface="Times New Roman"/>
                <a:cs typeface="Times New Roman"/>
                <a:sym typeface="Times New Roman"/>
              </a:rPr>
              <a:t>Video Processing: </a:t>
            </a:r>
            <a:r>
              <a:rPr lang="en-IN" sz="2800">
                <a:solidFill>
                  <a:schemeClr val="dk1"/>
                </a:solidFill>
                <a:latin typeface="Times New Roman"/>
                <a:ea typeface="Times New Roman"/>
                <a:cs typeface="Times New Roman"/>
                <a:sym typeface="Times New Roman"/>
              </a:rPr>
              <a:t>OpenCV (frame extraction, quality analysis)</a:t>
            </a:r>
            <a:endParaRPr>
              <a:latin typeface="Times New Roman"/>
              <a:ea typeface="Times New Roman"/>
              <a:cs typeface="Times New Roman"/>
              <a:sym typeface="Times New Roman"/>
            </a:endParaRPr>
          </a:p>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3)</a:t>
            </a:r>
            <a:r>
              <a:rPr b="1" lang="en-IN" sz="2800">
                <a:solidFill>
                  <a:schemeClr val="dk1"/>
                </a:solidFill>
                <a:latin typeface="Times New Roman"/>
                <a:ea typeface="Times New Roman"/>
                <a:cs typeface="Times New Roman"/>
                <a:sym typeface="Times New Roman"/>
              </a:rPr>
              <a:t>Deep Learning: </a:t>
            </a:r>
            <a:r>
              <a:rPr lang="en-IN" sz="2800">
                <a:solidFill>
                  <a:schemeClr val="dk1"/>
                </a:solidFill>
                <a:latin typeface="Times New Roman"/>
                <a:ea typeface="Times New Roman"/>
                <a:cs typeface="Times New Roman"/>
                <a:sym typeface="Times New Roman"/>
              </a:rPr>
              <a:t>PyTorch (model building, training, inference)</a:t>
            </a:r>
            <a:endParaRPr>
              <a:latin typeface="Times New Roman"/>
              <a:ea typeface="Times New Roman"/>
              <a:cs typeface="Times New Roman"/>
              <a:sym typeface="Times New Roman"/>
            </a:endParaRPr>
          </a:p>
          <a:p>
            <a:pPr indent="0" lvl="0" marL="0" marR="0" rtl="0" algn="l">
              <a:spcBef>
                <a:spcPts val="0"/>
              </a:spcBef>
              <a:spcAft>
                <a:spcPts val="0"/>
              </a:spcAft>
              <a:buNone/>
            </a:pPr>
            <a:r>
              <a:rPr lang="en-IN" sz="2800">
                <a:solidFill>
                  <a:schemeClr val="dk1"/>
                </a:solidFill>
                <a:latin typeface="Times New Roman"/>
                <a:ea typeface="Times New Roman"/>
                <a:cs typeface="Times New Roman"/>
                <a:sym typeface="Times New Roman"/>
              </a:rPr>
              <a:t>4)</a:t>
            </a:r>
            <a:r>
              <a:rPr b="1" lang="en-IN" sz="2800">
                <a:solidFill>
                  <a:schemeClr val="dk1"/>
                </a:solidFill>
                <a:latin typeface="Times New Roman"/>
                <a:ea typeface="Times New Roman"/>
                <a:cs typeface="Times New Roman"/>
                <a:sym typeface="Times New Roman"/>
              </a:rPr>
              <a:t>Data Handling: </a:t>
            </a:r>
            <a:r>
              <a:rPr lang="en-IN" sz="2800">
                <a:solidFill>
                  <a:schemeClr val="dk1"/>
                </a:solidFill>
                <a:latin typeface="Times New Roman"/>
                <a:ea typeface="Times New Roman"/>
                <a:cs typeface="Times New Roman"/>
                <a:sym typeface="Times New Roman"/>
              </a:rPr>
              <a:t>pandas, NumPy, scikit-image (SSIM), 5)</a:t>
            </a:r>
            <a:r>
              <a:rPr b="1" lang="en-IN" sz="2800">
                <a:solidFill>
                  <a:schemeClr val="dk1"/>
                </a:solidFill>
                <a:latin typeface="Times New Roman"/>
                <a:ea typeface="Times New Roman"/>
                <a:cs typeface="Times New Roman"/>
                <a:sym typeface="Times New Roman"/>
              </a:rPr>
              <a:t>transformsVisualization</a:t>
            </a:r>
            <a:r>
              <a:rPr lang="en-IN" sz="2800">
                <a:solidFill>
                  <a:schemeClr val="dk1"/>
                </a:solidFill>
                <a:latin typeface="Times New Roman"/>
                <a:ea typeface="Times New Roman"/>
                <a:cs typeface="Times New Roman"/>
                <a:sym typeface="Times New Roman"/>
              </a:rPr>
              <a:t>: Matplotlib, Seaborn</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73" name="Google Shape;17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74" name="Google Shape;17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75" name="Google Shape;175;p20"/>
          <p:cNvSpPr txBox="1"/>
          <p:nvPr/>
        </p:nvSpPr>
        <p:spPr>
          <a:xfrm>
            <a:off x="4038600" y="-201423"/>
            <a:ext cx="4924245" cy="1509661"/>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Experimental Setup</a:t>
            </a:r>
            <a:endParaRPr/>
          </a:p>
        </p:txBody>
      </p:sp>
      <p:graphicFrame>
        <p:nvGraphicFramePr>
          <p:cNvPr id="176" name="Google Shape;176;p20"/>
          <p:cNvGraphicFramePr/>
          <p:nvPr/>
        </p:nvGraphicFramePr>
        <p:xfrm>
          <a:off x="2032000" y="1090498"/>
          <a:ext cx="3000000" cy="3000000"/>
        </p:xfrm>
        <a:graphic>
          <a:graphicData uri="http://schemas.openxmlformats.org/drawingml/2006/table">
            <a:tbl>
              <a:tblPr bandRow="1" firstRow="1">
                <a:noFill/>
                <a:tableStyleId>{99D60F7E-B0EA-4F9F-817F-D0E32362845C}</a:tableStyleId>
              </a:tblPr>
              <a:tblGrid>
                <a:gridCol w="4064000"/>
                <a:gridCol w="4064000"/>
              </a:tblGrid>
              <a:tr h="69125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Component</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Specification</a:t>
                      </a:r>
                      <a:endParaRPr>
                        <a:latin typeface="Times New Roman"/>
                        <a:ea typeface="Times New Roman"/>
                        <a:cs typeface="Times New Roman"/>
                        <a:sym typeface="Times New Roman"/>
                      </a:endParaRPr>
                    </a:p>
                  </a:txBody>
                  <a:tcPr marT="45725" marB="45725" marR="91450" marL="91450"/>
                </a:tc>
              </a:tr>
              <a:tr h="69125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Processor</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AMD Ryzen 7 4800H (8 cores, 2.9 GHz)</a:t>
                      </a:r>
                      <a:endParaRPr sz="1800">
                        <a:latin typeface="Times New Roman"/>
                        <a:ea typeface="Times New Roman"/>
                        <a:cs typeface="Times New Roman"/>
                        <a:sym typeface="Times New Roman"/>
                      </a:endParaRPr>
                    </a:p>
                  </a:txBody>
                  <a:tcPr marT="45725" marB="45725" marR="91450" marL="91450"/>
                </a:tc>
              </a:tr>
              <a:tr h="69125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RAM</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16 GB</a:t>
                      </a:r>
                      <a:endParaRPr>
                        <a:latin typeface="Times New Roman"/>
                        <a:ea typeface="Times New Roman"/>
                        <a:cs typeface="Times New Roman"/>
                        <a:sym typeface="Times New Roman"/>
                      </a:endParaRPr>
                    </a:p>
                  </a:txBody>
                  <a:tcPr marT="45725" marB="45725" marR="91450" marL="91450"/>
                </a:tc>
              </a:tr>
              <a:tr h="69125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GPU</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NVIDIA GeForce GTX 1650 Ti (4 GB VRAM)</a:t>
                      </a:r>
                      <a:endParaRPr sz="1800">
                        <a:latin typeface="Times New Roman"/>
                        <a:ea typeface="Times New Roman"/>
                        <a:cs typeface="Times New Roman"/>
                        <a:sym typeface="Times New Roman"/>
                      </a:endParaRPr>
                    </a:p>
                  </a:txBody>
                  <a:tcPr marT="45725" marB="45725" marR="91450" marL="91450"/>
                </a:tc>
              </a:tr>
              <a:tr h="69125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CUDA Version</a:t>
                      </a:r>
                      <a:endParaRPr>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13.2 / Driver 595.97</a:t>
                      </a:r>
                      <a:endParaRPr>
                        <a:latin typeface="Times New Roman"/>
                        <a:ea typeface="Times New Roman"/>
                        <a:cs typeface="Times New Roman"/>
                        <a:sym typeface="Times New Roman"/>
                      </a:endParaRPr>
                    </a:p>
                  </a:txBody>
                  <a:tcPr marT="45725" marB="45725" marR="91450" marL="91450"/>
                </a:tc>
              </a:tr>
              <a:tr h="6912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183" name="Google Shape;18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84" name="Google Shape;18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85" name="Google Shape;185;p21"/>
          <p:cNvSpPr txBox="1"/>
          <p:nvPr/>
        </p:nvSpPr>
        <p:spPr>
          <a:xfrm>
            <a:off x="2444818" y="-201423"/>
            <a:ext cx="6518028" cy="1509661"/>
          </a:xfrm>
          <a:prstGeom prst="rect">
            <a:avLst/>
          </a:prstGeom>
          <a:noFill/>
          <a:ln>
            <a:noFill/>
          </a:ln>
        </p:spPr>
        <p:txBody>
          <a:bodyPr anchorCtr="0" anchor="ctr" bIns="45700" lIns="91425" spcFirstLastPara="1" rIns="91425" wrap="square" tIns="45700">
            <a:normAutofit fontScale="97500"/>
          </a:bodyPr>
          <a:lstStyle/>
          <a:p>
            <a:pPr indent="0" lvl="0" marL="0" marR="0" rtl="0" algn="l">
              <a:lnSpc>
                <a:spcPct val="90000"/>
              </a:lnSpc>
              <a:spcBef>
                <a:spcPts val="0"/>
              </a:spcBef>
              <a:spcAft>
                <a:spcPts val="0"/>
              </a:spcAft>
              <a:buClr>
                <a:schemeClr val="dk1"/>
              </a:buClr>
              <a:buSzPct val="100000"/>
              <a:buFont typeface="Calibri"/>
              <a:buNone/>
            </a:pPr>
            <a:r>
              <a:t/>
            </a:r>
            <a:endParaRPr sz="4400">
              <a:solidFill>
                <a:schemeClr val="dk1"/>
              </a:solidFill>
              <a:latin typeface="Times New Roman"/>
              <a:ea typeface="Times New Roman"/>
              <a:cs typeface="Times New Roman"/>
              <a:sym typeface="Times New Roman"/>
            </a:endParaRPr>
          </a:p>
        </p:txBody>
      </p:sp>
      <p:pic>
        <p:nvPicPr>
          <p:cNvPr id="186" name="Google Shape;186;p21"/>
          <p:cNvPicPr preferRelativeResize="0"/>
          <p:nvPr/>
        </p:nvPicPr>
        <p:blipFill rotWithShape="1">
          <a:blip r:embed="rId3">
            <a:alphaModFix/>
          </a:blip>
          <a:srcRect b="0" l="0" r="0" t="0"/>
          <a:stretch/>
        </p:blipFill>
        <p:spPr>
          <a:xfrm>
            <a:off x="0" y="-9939"/>
            <a:ext cx="12192000" cy="6356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p:nvPr/>
        </p:nvSpPr>
        <p:spPr>
          <a:xfrm>
            <a:off x="0" y="6400800"/>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22-07-2026</a:t>
            </a:r>
            <a:endParaRPr>
              <a:solidFill>
                <a:schemeClr val="lt1"/>
              </a:solidFill>
            </a:endParaRPr>
          </a:p>
        </p:txBody>
      </p:sp>
      <p:sp>
        <p:nvSpPr>
          <p:cNvPr id="193" name="Google Shape;19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194" name="Google Shape;19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195" name="Google Shape;195;p22"/>
          <p:cNvSpPr txBox="1"/>
          <p:nvPr/>
        </p:nvSpPr>
        <p:spPr>
          <a:xfrm>
            <a:off x="1701800" y="-253182"/>
            <a:ext cx="8788400" cy="150966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Roadmap</a:t>
            </a:r>
            <a:endParaRPr/>
          </a:p>
        </p:txBody>
      </p:sp>
      <p:graphicFrame>
        <p:nvGraphicFramePr>
          <p:cNvPr id="196" name="Google Shape;196;p22"/>
          <p:cNvGraphicFramePr/>
          <p:nvPr/>
        </p:nvGraphicFramePr>
        <p:xfrm>
          <a:off x="397565" y="1032832"/>
          <a:ext cx="3000000" cy="3000000"/>
        </p:xfrm>
        <a:graphic>
          <a:graphicData uri="http://schemas.openxmlformats.org/drawingml/2006/table">
            <a:tbl>
              <a:tblPr bandRow="1" firstRow="1">
                <a:noFill/>
                <a:tableStyleId>{3ED6F4F1-CEC0-48CD-BCFA-4CB3B36DE78E}</a:tableStyleId>
              </a:tblPr>
              <a:tblGrid>
                <a:gridCol w="2027575"/>
                <a:gridCol w="1272200"/>
                <a:gridCol w="1649900"/>
                <a:gridCol w="1649900"/>
                <a:gridCol w="1649900"/>
                <a:gridCol w="1649900"/>
                <a:gridCol w="1649900"/>
              </a:tblGrid>
              <a:tr h="896400">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Month</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June/July</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Augest</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September</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October</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November</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rPr lang="en-IN" sz="1800">
                          <a:latin typeface="Times New Roman"/>
                          <a:ea typeface="Times New Roman"/>
                          <a:cs typeface="Times New Roman"/>
                          <a:sym typeface="Times New Roman"/>
                        </a:rPr>
                        <a:t>December</a:t>
                      </a:r>
                      <a:endParaRPr>
                        <a:latin typeface="Times New Roman"/>
                        <a:ea typeface="Times New Roman"/>
                        <a:cs typeface="Times New Roman"/>
                        <a:sym typeface="Times New Roman"/>
                      </a:endParaRPr>
                    </a:p>
                  </a:txBody>
                  <a:tcPr marT="45725" marB="45725" marR="91450" marL="91450"/>
                </a:tc>
              </a:tr>
              <a:tr h="89640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Literature review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r>
              <a:tr h="89640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PreProcessing and Feature Extraction</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r>
              <a:tr h="997125">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Model Development and classification</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r>
              <a:tr h="896400">
                <a:tc>
                  <a:txBody>
                    <a:bodyPr/>
                    <a:lstStyle/>
                    <a:p>
                      <a:pPr indent="0" lvl="0" marL="0" marR="0" rtl="0" algn="l">
                        <a:spcBef>
                          <a:spcPts val="0"/>
                        </a:spcBef>
                        <a:spcAft>
                          <a:spcPts val="0"/>
                        </a:spcAft>
                        <a:buNone/>
                      </a:pPr>
                      <a:r>
                        <a:rPr lang="en-IN" sz="1800">
                          <a:latin typeface="Times New Roman"/>
                          <a:ea typeface="Times New Roman"/>
                          <a:cs typeface="Times New Roman"/>
                          <a:sym typeface="Times New Roman"/>
                        </a:rPr>
                        <a:t>Evaluation and analysis </a:t>
                      </a:r>
                      <a:endParaRPr>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tc>
                <a:tc>
                  <a:txBody>
                    <a:bodyPr/>
                    <a:lstStyle/>
                    <a:p>
                      <a:pPr indent="0" lvl="0" marL="0" marR="0" rtl="0" algn="just">
                        <a:spcBef>
                          <a:spcPts val="0"/>
                        </a:spcBef>
                        <a:spcAft>
                          <a:spcPts val="0"/>
                        </a:spcAft>
                        <a:buNone/>
                      </a:pPr>
                      <a:r>
                        <a:t/>
                      </a:r>
                      <a:endParaRPr sz="1800">
                        <a:latin typeface="Times New Roman"/>
                        <a:ea typeface="Times New Roman"/>
                        <a:cs typeface="Times New Roman"/>
                        <a:sym typeface="Times New Roman"/>
                      </a:endParaRPr>
                    </a:p>
                  </a:txBody>
                  <a:tcPr marT="45725" marB="45725" marR="91450" marL="91450">
                    <a:solidFill>
                      <a:schemeClr val="dk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3"/>
          <p:cNvSpPr/>
          <p:nvPr/>
        </p:nvSpPr>
        <p:spPr>
          <a:xfrm>
            <a:off x="0" y="6409753"/>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203" name="Google Shape;20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204" name="Google Shape;20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205" name="Google Shape;205;p23"/>
          <p:cNvSpPr txBox="1"/>
          <p:nvPr/>
        </p:nvSpPr>
        <p:spPr>
          <a:xfrm>
            <a:off x="2235200" y="-432701"/>
            <a:ext cx="7721600" cy="150966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References</a:t>
            </a:r>
            <a:endParaRPr/>
          </a:p>
        </p:txBody>
      </p:sp>
      <p:sp>
        <p:nvSpPr>
          <p:cNvPr id="206" name="Google Shape;206;p23"/>
          <p:cNvSpPr txBox="1"/>
          <p:nvPr/>
        </p:nvSpPr>
        <p:spPr>
          <a:xfrm>
            <a:off x="149087" y="675862"/>
            <a:ext cx="11817600" cy="60933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15000"/>
              </a:lnSpc>
              <a:spcBef>
                <a:spcPts val="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Khalil, S., Shah, H. A., &amp; Bednarik, R. (2025). </a:t>
            </a:r>
            <a:r>
              <a:rPr i="1" lang="en-IN" sz="1800">
                <a:solidFill>
                  <a:schemeClr val="dk1"/>
                </a:solidFill>
                <a:latin typeface="Times New Roman"/>
                <a:ea typeface="Times New Roman"/>
                <a:cs typeface="Times New Roman"/>
                <a:sym typeface="Times New Roman"/>
              </a:rPr>
              <a:t>Improving microsurgical suture training with automated phase recognition and skill assessment via deep learning.</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Computers in Biology and Medicine</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192</a:t>
            </a:r>
            <a:r>
              <a:rPr lang="en-IN" sz="1800">
                <a:solidFill>
                  <a:schemeClr val="dk1"/>
                </a:solidFill>
                <a:latin typeface="Times New Roman"/>
                <a:ea typeface="Times New Roman"/>
                <a:cs typeface="Times New Roman"/>
                <a:sym typeface="Times New Roman"/>
              </a:rPr>
              <a:t>:110238. </a:t>
            </a:r>
            <a:r>
              <a:rPr lang="en-IN" sz="1800" u="sng">
                <a:solidFill>
                  <a:schemeClr val="hlink"/>
                </a:solidFill>
                <a:latin typeface="Times New Roman"/>
                <a:ea typeface="Times New Roman"/>
                <a:cs typeface="Times New Roman"/>
                <a:sym typeface="Times New Roman"/>
                <a:hlinkClick r:id="rId3"/>
              </a:rPr>
              <a:t>https://doi.org/10.1016/j.compbiomed.2025.110238</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4"/>
              </a:rPr>
              <a:t>ScienceDirect</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15000"/>
              </a:lnSpc>
              <a:spcBef>
                <a:spcPts val="80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Spagnulo, R., Marzola, F., Corso, F., et al. (2025). </a:t>
            </a:r>
            <a:r>
              <a:rPr i="1" lang="en-IN" sz="1800">
                <a:solidFill>
                  <a:schemeClr val="dk1"/>
                </a:solidFill>
                <a:latin typeface="Times New Roman"/>
                <a:ea typeface="Times New Roman"/>
                <a:cs typeface="Times New Roman"/>
                <a:sym typeface="Times New Roman"/>
              </a:rPr>
              <a:t>From precision to strength: computer vision for suture quality assessment—an ex vivo pilot study.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Surgical Endoscopy</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5"/>
              </a:rPr>
              <a:t>https://doi.org/10.1007/s00464-025-12441-6</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6"/>
              </a:rPr>
              <a:t>Springer</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15000"/>
              </a:lnSpc>
              <a:spcBef>
                <a:spcPts val="80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Pan, M., Li, X., Huang, J., et al. (2023). </a:t>
            </a:r>
            <a:r>
              <a:rPr i="1" lang="en-IN" sz="1800">
                <a:solidFill>
                  <a:schemeClr val="dk1"/>
                </a:solidFill>
                <a:latin typeface="Times New Roman"/>
                <a:ea typeface="Times New Roman"/>
                <a:cs typeface="Times New Roman"/>
                <a:sym typeface="Times New Roman"/>
              </a:rPr>
              <a:t>An automated skill assessment framework based on visual motion tracking and deep learning in robot-assisted minimally invasive surgery.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Sensors (Basel)</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23</a:t>
            </a:r>
            <a:r>
              <a:rPr lang="en-IN" sz="1800">
                <a:solidFill>
                  <a:schemeClr val="dk1"/>
                </a:solidFill>
                <a:latin typeface="Times New Roman"/>
                <a:ea typeface="Times New Roman"/>
                <a:cs typeface="Times New Roman"/>
                <a:sym typeface="Times New Roman"/>
              </a:rPr>
              <a:t>(9):4496. </a:t>
            </a:r>
            <a:r>
              <a:rPr lang="en-IN" sz="1800" u="sng">
                <a:solidFill>
                  <a:schemeClr val="hlink"/>
                </a:solidFill>
                <a:latin typeface="Times New Roman"/>
                <a:ea typeface="Times New Roman"/>
                <a:cs typeface="Times New Roman"/>
                <a:sym typeface="Times New Roman"/>
                <a:hlinkClick r:id="rId7"/>
              </a:rPr>
              <a:t>https://doi.org/10.3390/s23094496</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8"/>
              </a:rPr>
              <a:t>MDPI</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15000"/>
              </a:lnSpc>
              <a:spcBef>
                <a:spcPts val="80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Kankanamge, D., Wijeweera, C., Ong, Z., et al. (2025). </a:t>
            </a:r>
            <a:r>
              <a:rPr i="1" lang="en-IN" sz="1800">
                <a:solidFill>
                  <a:schemeClr val="dk1"/>
                </a:solidFill>
                <a:latin typeface="Times New Roman"/>
                <a:ea typeface="Times New Roman"/>
                <a:cs typeface="Times New Roman"/>
                <a:sym typeface="Times New Roman"/>
              </a:rPr>
              <a:t>Artificial intelligence based assessment of minimally invasive surgical skills using standardized objective metrics – a narrative review.</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American Journal of Surgery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241</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9"/>
              </a:rPr>
              <a:t>https://doi.org/10.1016/j.amjsurg.2024.116074</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10"/>
              </a:rPr>
              <a:t>ScienceDirect</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15000"/>
              </a:lnSpc>
              <a:spcBef>
                <a:spcPts val="80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Boal, M.W.E., et al. (2024). </a:t>
            </a:r>
            <a:r>
              <a:rPr i="1" lang="en-IN" sz="1800">
                <a:solidFill>
                  <a:schemeClr val="dk1"/>
                </a:solidFill>
                <a:latin typeface="Times New Roman"/>
                <a:ea typeface="Times New Roman"/>
                <a:cs typeface="Times New Roman"/>
                <a:sym typeface="Times New Roman"/>
              </a:rPr>
              <a:t>Evaluation of objective tools and artificial intelligence in robotic surgery: a systematic review.</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British Journal of Surgery (BJS)</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111</a:t>
            </a:r>
            <a:r>
              <a:rPr lang="en-IN" sz="1800">
                <a:solidFill>
                  <a:schemeClr val="dk1"/>
                </a:solidFill>
                <a:latin typeface="Times New Roman"/>
                <a:ea typeface="Times New Roman"/>
                <a:cs typeface="Times New Roman"/>
                <a:sym typeface="Times New Roman"/>
              </a:rPr>
              <a:t>(1). </a:t>
            </a:r>
            <a:r>
              <a:rPr lang="en-IN" sz="1800" u="sng">
                <a:solidFill>
                  <a:schemeClr val="hlink"/>
                </a:solidFill>
                <a:latin typeface="Times New Roman"/>
                <a:ea typeface="Times New Roman"/>
                <a:cs typeface="Times New Roman"/>
                <a:sym typeface="Times New Roman"/>
                <a:hlinkClick r:id="rId11"/>
              </a:rPr>
              <a:t>https://doi.org/10.1093/bjs/znad331</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12"/>
              </a:rPr>
              <a:t>OUP Academic</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342900" lvl="0" marL="342900" marR="0" rtl="0" algn="just">
              <a:lnSpc>
                <a:spcPct val="115000"/>
              </a:lnSpc>
              <a:spcBef>
                <a:spcPts val="800"/>
              </a:spcBef>
              <a:spcAft>
                <a:spcPts val="0"/>
              </a:spcAft>
              <a:buClr>
                <a:schemeClr val="dk1"/>
              </a:buClr>
              <a:buSzPts val="1800"/>
              <a:buFont typeface="Calibri"/>
              <a:buAutoNum type="arabicPeriod"/>
            </a:pPr>
            <a:r>
              <a:rPr lang="en-IN" sz="1800">
                <a:solidFill>
                  <a:schemeClr val="dk1"/>
                </a:solidFill>
                <a:latin typeface="Times New Roman"/>
                <a:ea typeface="Times New Roman"/>
                <a:cs typeface="Times New Roman"/>
                <a:sym typeface="Times New Roman"/>
              </a:rPr>
              <a:t>Shayan, A.M., Singh, S., Gao, J., et al. (2023). </a:t>
            </a:r>
            <a:r>
              <a:rPr i="1" lang="en-IN" sz="1800">
                <a:solidFill>
                  <a:schemeClr val="dk1"/>
                </a:solidFill>
                <a:latin typeface="Times New Roman"/>
                <a:ea typeface="Times New Roman"/>
                <a:cs typeface="Times New Roman"/>
                <a:sym typeface="Times New Roman"/>
              </a:rPr>
              <a:t>Measuring hand movement for suturing skill assessment: a simulation-based study.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Surgery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174</a:t>
            </a:r>
            <a:r>
              <a:rPr lang="en-IN" sz="1800">
                <a:solidFill>
                  <a:schemeClr val="dk1"/>
                </a:solidFill>
                <a:latin typeface="Times New Roman"/>
                <a:ea typeface="Times New Roman"/>
                <a:cs typeface="Times New Roman"/>
                <a:sym typeface="Times New Roman"/>
              </a:rPr>
              <a:t>:1184–1192. </a:t>
            </a:r>
            <a:r>
              <a:rPr lang="en-IN" sz="1800" u="sng">
                <a:solidFill>
                  <a:schemeClr val="hlink"/>
                </a:solidFill>
                <a:latin typeface="Times New Roman"/>
                <a:ea typeface="Times New Roman"/>
                <a:cs typeface="Times New Roman"/>
                <a:sym typeface="Times New Roman"/>
                <a:hlinkClick r:id="rId13"/>
              </a:rPr>
              <a:t>https://doi.org/10.1016/j.surg.2023.07.007</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14"/>
              </a:rPr>
              <a:t>classicaproject.eu</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228600" lvl="0" marL="342900" marR="0" rtl="0" algn="just">
              <a:lnSpc>
                <a:spcPct val="115000"/>
              </a:lnSpc>
              <a:spcBef>
                <a:spcPts val="800"/>
              </a:spcBef>
              <a:spcAft>
                <a:spcPts val="0"/>
              </a:spcAft>
              <a:buClr>
                <a:schemeClr val="dk1"/>
              </a:buClr>
              <a:buSzPts val="1800"/>
              <a:buFont typeface="Calibri"/>
              <a:buNone/>
            </a:pPr>
            <a:r>
              <a:t/>
            </a:r>
            <a:endParaRPr sz="1800">
              <a:solidFill>
                <a:schemeClr val="dk1"/>
              </a:solidFill>
              <a:latin typeface="Times New Roman"/>
              <a:ea typeface="Times New Roman"/>
              <a:cs typeface="Times New Roman"/>
              <a:sym typeface="Times New Roman"/>
            </a:endParaRPr>
          </a:p>
          <a:p>
            <a:pPr indent="-266700" lvl="0" marL="342900" marR="0" rtl="0" algn="just">
              <a:lnSpc>
                <a:spcPct val="115000"/>
              </a:lnSpc>
              <a:spcBef>
                <a:spcPts val="80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p:nvPr/>
        </p:nvSpPr>
        <p:spPr>
          <a:xfrm>
            <a:off x="0" y="6409753"/>
            <a:ext cx="1219200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22-07-2026</a:t>
            </a:r>
            <a:endParaRPr>
              <a:solidFill>
                <a:schemeClr val="lt1"/>
              </a:solidFill>
            </a:endParaRPr>
          </a:p>
        </p:txBody>
      </p:sp>
      <p:sp>
        <p:nvSpPr>
          <p:cNvPr id="213" name="Google Shape;2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214" name="Google Shape;2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215" name="Google Shape;215;p24"/>
          <p:cNvSpPr txBox="1"/>
          <p:nvPr/>
        </p:nvSpPr>
        <p:spPr>
          <a:xfrm>
            <a:off x="2235200" y="-432701"/>
            <a:ext cx="7721600" cy="150966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lang="en-IN" sz="4400">
                <a:solidFill>
                  <a:schemeClr val="dk1"/>
                </a:solidFill>
                <a:latin typeface="Times New Roman"/>
                <a:ea typeface="Times New Roman"/>
                <a:cs typeface="Times New Roman"/>
                <a:sym typeface="Times New Roman"/>
              </a:rPr>
              <a:t>References</a:t>
            </a:r>
            <a:endParaRPr/>
          </a:p>
        </p:txBody>
      </p:sp>
      <p:sp>
        <p:nvSpPr>
          <p:cNvPr id="216" name="Google Shape;216;p24"/>
          <p:cNvSpPr txBox="1"/>
          <p:nvPr/>
        </p:nvSpPr>
        <p:spPr>
          <a:xfrm>
            <a:off x="149087" y="675862"/>
            <a:ext cx="11817600" cy="46137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None/>
            </a:pPr>
            <a:r>
              <a:rPr lang="en-IN" sz="1800">
                <a:solidFill>
                  <a:schemeClr val="dk1"/>
                </a:solidFill>
                <a:latin typeface="Times New Roman"/>
                <a:ea typeface="Times New Roman"/>
                <a:cs typeface="Times New Roman"/>
                <a:sym typeface="Times New Roman"/>
              </a:rPr>
              <a:t>7) Vedula, S.S., Ishii, M., &amp; Hager, G.D. (2017). </a:t>
            </a:r>
            <a:r>
              <a:rPr i="1" lang="en-IN" sz="1800">
                <a:solidFill>
                  <a:schemeClr val="dk1"/>
                </a:solidFill>
                <a:latin typeface="Times New Roman"/>
                <a:ea typeface="Times New Roman"/>
                <a:cs typeface="Times New Roman"/>
                <a:sym typeface="Times New Roman"/>
              </a:rPr>
              <a:t>Objective assessment of surgical technical skill and competency in the operating room.</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Annual Review of Biomedical Engineering</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19</a:t>
            </a:r>
            <a:r>
              <a:rPr lang="en-IN" sz="1800">
                <a:solidFill>
                  <a:schemeClr val="dk1"/>
                </a:solidFill>
                <a:latin typeface="Times New Roman"/>
                <a:ea typeface="Times New Roman"/>
                <a:cs typeface="Times New Roman"/>
                <a:sym typeface="Times New Roman"/>
              </a:rPr>
              <a:t>:301–325. </a:t>
            </a:r>
            <a:r>
              <a:rPr lang="en-IN" sz="1800" u="sng">
                <a:solidFill>
                  <a:schemeClr val="hlink"/>
                </a:solidFill>
                <a:latin typeface="Times New Roman"/>
                <a:ea typeface="Times New Roman"/>
                <a:cs typeface="Times New Roman"/>
                <a:sym typeface="Times New Roman"/>
                <a:hlinkClick r:id="rId3"/>
              </a:rPr>
              <a:t>https://doi.org/10.1146/annurev-bioeng-071516-044435</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4"/>
              </a:rPr>
              <a:t>classicaproject.eu</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marR="0" rtl="0" algn="just">
              <a:lnSpc>
                <a:spcPct val="115000"/>
              </a:lnSpc>
              <a:spcBef>
                <a:spcPts val="800"/>
              </a:spcBef>
              <a:spcAft>
                <a:spcPts val="0"/>
              </a:spcAft>
              <a:buNone/>
            </a:pPr>
            <a:r>
              <a:rPr lang="en-IN" sz="1800">
                <a:solidFill>
                  <a:schemeClr val="dk1"/>
                </a:solidFill>
                <a:latin typeface="Times New Roman"/>
                <a:ea typeface="Times New Roman"/>
                <a:cs typeface="Times New Roman"/>
                <a:sym typeface="Times New Roman"/>
              </a:rPr>
              <a:t>8) IJgosse, W.M., Leijte, E., &amp; Botden, S.M.B.I. (2020). </a:t>
            </a:r>
            <a:r>
              <a:rPr i="1" lang="en-IN" sz="1800">
                <a:solidFill>
                  <a:schemeClr val="dk1"/>
                </a:solidFill>
                <a:latin typeface="Times New Roman"/>
                <a:ea typeface="Times New Roman"/>
                <a:cs typeface="Times New Roman"/>
                <a:sym typeface="Times New Roman"/>
              </a:rPr>
              <a:t>Competency assessment tool for laparoscopic suturing: development and reliability evaluation.</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Surgical Endoscopy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34</a:t>
            </a:r>
            <a:r>
              <a:rPr lang="en-IN" sz="1800">
                <a:solidFill>
                  <a:schemeClr val="dk1"/>
                </a:solidFill>
                <a:latin typeface="Times New Roman"/>
                <a:ea typeface="Times New Roman"/>
                <a:cs typeface="Times New Roman"/>
                <a:sym typeface="Times New Roman"/>
              </a:rPr>
              <a:t>:2947–2953. </a:t>
            </a:r>
            <a:r>
              <a:rPr lang="en-IN" sz="1800" u="sng">
                <a:solidFill>
                  <a:schemeClr val="hlink"/>
                </a:solidFill>
                <a:latin typeface="Times New Roman"/>
                <a:ea typeface="Times New Roman"/>
                <a:cs typeface="Times New Roman"/>
                <a:sym typeface="Times New Roman"/>
                <a:hlinkClick r:id="rId5"/>
              </a:rPr>
              <a:t>https://doi.org/10.1007/s00464-019-07077-2</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6"/>
              </a:rPr>
              <a:t>classicaproject.eu</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marR="0" rtl="0" algn="just">
              <a:lnSpc>
                <a:spcPct val="115000"/>
              </a:lnSpc>
              <a:spcBef>
                <a:spcPts val="800"/>
              </a:spcBef>
              <a:spcAft>
                <a:spcPts val="0"/>
              </a:spcAft>
              <a:buNone/>
            </a:pPr>
            <a:r>
              <a:rPr lang="en-IN" sz="1800">
                <a:solidFill>
                  <a:schemeClr val="dk1"/>
                </a:solidFill>
                <a:latin typeface="Times New Roman"/>
                <a:ea typeface="Times New Roman"/>
                <a:cs typeface="Times New Roman"/>
                <a:sym typeface="Times New Roman"/>
              </a:rPr>
              <a:t>9) Mintz, Y., &amp; Brodie, R. (2019). </a:t>
            </a:r>
            <a:r>
              <a:rPr i="1" lang="en-IN" sz="1800">
                <a:solidFill>
                  <a:schemeClr val="dk1"/>
                </a:solidFill>
                <a:latin typeface="Times New Roman"/>
                <a:ea typeface="Times New Roman"/>
                <a:cs typeface="Times New Roman"/>
                <a:sym typeface="Times New Roman"/>
              </a:rPr>
              <a:t>Introduction to artificial intelligence in medicine.</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Minimally Invasive Therapy &amp; Allied Technologies</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28</a:t>
            </a:r>
            <a:r>
              <a:rPr lang="en-IN" sz="1800">
                <a:solidFill>
                  <a:schemeClr val="dk1"/>
                </a:solidFill>
                <a:latin typeface="Times New Roman"/>
                <a:ea typeface="Times New Roman"/>
                <a:cs typeface="Times New Roman"/>
                <a:sym typeface="Times New Roman"/>
              </a:rPr>
              <a:t>:73–81. </a:t>
            </a:r>
            <a:r>
              <a:rPr lang="en-IN" sz="1800" u="sng">
                <a:solidFill>
                  <a:schemeClr val="hlink"/>
                </a:solidFill>
                <a:latin typeface="Times New Roman"/>
                <a:ea typeface="Times New Roman"/>
                <a:cs typeface="Times New Roman"/>
                <a:sym typeface="Times New Roman"/>
                <a:hlinkClick r:id="rId7"/>
              </a:rPr>
              <a:t>https://doi.org/10.1080/13645706.2019.1575882</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8"/>
              </a:rPr>
              <a:t>classicaproject.eu</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marR="0" rtl="0" algn="just">
              <a:lnSpc>
                <a:spcPct val="115000"/>
              </a:lnSpc>
              <a:spcBef>
                <a:spcPts val="800"/>
              </a:spcBef>
              <a:spcAft>
                <a:spcPts val="0"/>
              </a:spcAft>
              <a:buNone/>
            </a:pPr>
            <a:r>
              <a:rPr lang="en-IN" sz="1800">
                <a:solidFill>
                  <a:schemeClr val="dk1"/>
                </a:solidFill>
                <a:latin typeface="Times New Roman"/>
                <a:ea typeface="Times New Roman"/>
                <a:cs typeface="Times New Roman"/>
                <a:sym typeface="Times New Roman"/>
              </a:rPr>
              <a:t>10) Zhao, Z., Chen, Z., Voros, S., &amp; Cheng, X. (2019). </a:t>
            </a:r>
            <a:r>
              <a:rPr i="1" lang="en-IN" sz="1800">
                <a:solidFill>
                  <a:schemeClr val="dk1"/>
                </a:solidFill>
                <a:latin typeface="Times New Roman"/>
                <a:ea typeface="Times New Roman"/>
                <a:cs typeface="Times New Roman"/>
                <a:sym typeface="Times New Roman"/>
              </a:rPr>
              <a:t>Real-time tracking of surgical instruments based on spatio-temporal context and deep learning.</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Computer Assisted Surgery</a:t>
            </a:r>
            <a:r>
              <a:rPr lang="en-IN" sz="1800">
                <a:solidFill>
                  <a:schemeClr val="dk1"/>
                </a:solidFill>
                <a:latin typeface="Times New Roman"/>
                <a:ea typeface="Times New Roman"/>
                <a:cs typeface="Times New Roman"/>
                <a:sym typeface="Times New Roman"/>
              </a:rPr>
              <a:t>, </a:t>
            </a:r>
            <a:r>
              <a:rPr b="1" lang="en-IN" sz="1800">
                <a:solidFill>
                  <a:schemeClr val="dk1"/>
                </a:solidFill>
                <a:latin typeface="Times New Roman"/>
                <a:ea typeface="Times New Roman"/>
                <a:cs typeface="Times New Roman"/>
                <a:sym typeface="Times New Roman"/>
              </a:rPr>
              <a:t>24</a:t>
            </a:r>
            <a:r>
              <a:rPr lang="en-IN" sz="1800">
                <a:solidFill>
                  <a:schemeClr val="dk1"/>
                </a:solidFill>
                <a:latin typeface="Times New Roman"/>
                <a:ea typeface="Times New Roman"/>
                <a:cs typeface="Times New Roman"/>
                <a:sym typeface="Times New Roman"/>
              </a:rPr>
              <a:t>(Suppl 1):20–29. </a:t>
            </a:r>
            <a:r>
              <a:rPr lang="en-IN" sz="1800" u="sng">
                <a:solidFill>
                  <a:schemeClr val="hlink"/>
                </a:solidFill>
                <a:latin typeface="Times New Roman"/>
                <a:ea typeface="Times New Roman"/>
                <a:cs typeface="Times New Roman"/>
                <a:sym typeface="Times New Roman"/>
                <a:hlinkClick r:id="rId9"/>
              </a:rPr>
              <a:t>https://doi.org/10.1080/24699322.2018.1560097</a:t>
            </a:r>
            <a:r>
              <a:rPr lang="en-IN" sz="1800">
                <a:solidFill>
                  <a:schemeClr val="dk1"/>
                </a:solidFill>
                <a:latin typeface="Times New Roman"/>
                <a:ea typeface="Times New Roman"/>
                <a:cs typeface="Times New Roman"/>
                <a:sym typeface="Times New Roman"/>
              </a:rPr>
              <a:t> (</a:t>
            </a:r>
            <a:r>
              <a:rPr lang="en-IN" sz="1800" u="sng">
                <a:solidFill>
                  <a:schemeClr val="hlink"/>
                </a:solidFill>
                <a:latin typeface="Times New Roman"/>
                <a:ea typeface="Times New Roman"/>
                <a:cs typeface="Times New Roman"/>
                <a:sym typeface="Times New Roman"/>
                <a:hlinkClick r:id="rId10"/>
              </a:rPr>
              <a:t>ouci.dntb.gov.ua</a:t>
            </a:r>
            <a:r>
              <a:rPr lang="en-IN"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indent="0" lvl="0" marL="0" marR="0" rtl="0" algn="just">
              <a:lnSpc>
                <a:spcPct val="115000"/>
              </a:lnSpc>
              <a:spcBef>
                <a:spcPts val="800"/>
              </a:spcBef>
              <a:spcAft>
                <a:spcPts val="0"/>
              </a:spcAft>
              <a:buNone/>
            </a:pPr>
            <a:r>
              <a:t/>
            </a:r>
            <a:endParaRPr sz="1800">
              <a:solidFill>
                <a:schemeClr val="dk1"/>
              </a:solidFill>
              <a:latin typeface="Times New Roman"/>
              <a:ea typeface="Times New Roman"/>
              <a:cs typeface="Times New Roman"/>
              <a:sym typeface="Times New Roman"/>
            </a:endParaRPr>
          </a:p>
          <a:p>
            <a:pPr indent="-266700" lvl="0" marL="342900" marR="0" rtl="0" algn="just">
              <a:lnSpc>
                <a:spcPct val="115000"/>
              </a:lnSpc>
              <a:spcBef>
                <a:spcPts val="800"/>
              </a:spcBef>
              <a:spcAft>
                <a:spcPts val="0"/>
              </a:spcAft>
              <a:buClr>
                <a:schemeClr val="dk1"/>
              </a:buClr>
              <a:buSzPts val="1200"/>
              <a:buFont typeface="Calibri"/>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5"/>
          <p:cNvSpPr/>
          <p:nvPr/>
        </p:nvSpPr>
        <p:spPr>
          <a:xfrm>
            <a:off x="0" y="6400800"/>
            <a:ext cx="12212320" cy="457200"/>
          </a:xfrm>
          <a:prstGeom prst="rect">
            <a:avLst/>
          </a:prstGeom>
          <a:solidFill>
            <a:srgbClr val="C55A1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IN">
                <a:solidFill>
                  <a:schemeClr val="lt1"/>
                </a:solidFill>
              </a:rPr>
              <a:t>21-07-2026</a:t>
            </a:r>
            <a:endParaRPr>
              <a:solidFill>
                <a:schemeClr val="lt1"/>
              </a:solidFill>
            </a:endParaRPr>
          </a:p>
        </p:txBody>
      </p:sp>
      <p:sp>
        <p:nvSpPr>
          <p:cNvPr id="223" name="Google Shape;22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IN">
                <a:solidFill>
                  <a:schemeClr val="lt1"/>
                </a:solidFill>
              </a:rPr>
              <a:t>Department Of Computer Science and Engineering </a:t>
            </a:r>
            <a:endParaRPr>
              <a:solidFill>
                <a:schemeClr val="lt1"/>
              </a:solidFill>
            </a:endParaRPr>
          </a:p>
        </p:txBody>
      </p:sp>
      <p:sp>
        <p:nvSpPr>
          <p:cNvPr id="224" name="Google Shape;22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IN">
                <a:solidFill>
                  <a:schemeClr val="lt1"/>
                </a:solidFill>
              </a:rPr>
              <a:t>‹#›</a:t>
            </a:fld>
            <a:endParaRPr>
              <a:solidFill>
                <a:schemeClr val="lt1"/>
              </a:solidFill>
            </a:endParaRPr>
          </a:p>
        </p:txBody>
      </p:sp>
      <p:sp>
        <p:nvSpPr>
          <p:cNvPr id="225" name="Google Shape;225;p25"/>
          <p:cNvSpPr txBox="1"/>
          <p:nvPr/>
        </p:nvSpPr>
        <p:spPr>
          <a:xfrm>
            <a:off x="2235200" y="2674169"/>
            <a:ext cx="7721600" cy="150966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b="1" lang="en-IN" sz="8800">
                <a:solidFill>
                  <a:schemeClr val="dk1"/>
                </a:solidFill>
                <a:latin typeface="Times New Roman"/>
                <a:ea typeface="Times New Roman"/>
                <a:cs typeface="Times New Roman"/>
                <a:sym typeface="Times New Roman"/>
              </a:rPr>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